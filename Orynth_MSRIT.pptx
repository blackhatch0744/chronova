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 id="2147483672"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Overlock" panose="020B0604020202020204" charset="0"/>
      <p:regular r:id="rId14"/>
      <p:bold r:id="rId15"/>
      <p:italic r:id="rId16"/>
      <p:boldItalic r:id="rId17"/>
    </p:embeddedFont>
    <p:embeddedFont>
      <p:font typeface="Times" panose="02020603050405020304" pitchFamily="18"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6F85A4B-4D7E-4728-8684-83E04E29FE96}">
  <a:tblStyle styleId="{26F85A4B-4D7E-4728-8684-83E04E29FE9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2D9C0F1-B2F2-4428-A493-E4D844A638A9}"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ddb0974f57_2_76: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ddb0974f57_2_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ddb0974f57_2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ddb0974f57_2_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3ddb0974f57_2_8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ddb0974f57_2_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g3ddb0974f57_2_9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g3ddb0974f57_2_9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ddb0974f57_2_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g3ddb0974f57_2_10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g3ddb0974f57_2_10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ddb0974f57_2_1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3ddb0974f57_2_1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ddb0974f57_2_1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ddb0974f57_2_1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3ddb0974f57_2_1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ddb0974f57_2_1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db0974f57_2_1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g3ddb0974f57_2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g3ddb0974f57_2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ddb0974f57_2_1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g3ddb0974f57_2_1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g3ddb0974f57_2_1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ddb0974f57_2_1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ddb0974f57_2_1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3ddb0974f57_2_1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3ddb0974f57_2_1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g3ddb0974f57_2_17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g3ddb0974f57_2_17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8" name="Google Shape;58;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Google Shape;59;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0"/>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1"/>
        <p:cNvGrpSpPr/>
        <p:nvPr/>
      </p:nvGrpSpPr>
      <p:grpSpPr>
        <a:xfrm>
          <a:off x="0" y="0"/>
          <a:ext cx="0" cy="0"/>
          <a:chOff x="0" y="0"/>
          <a:chExt cx="0" cy="0"/>
        </a:xfrm>
      </p:grpSpPr>
      <p:sp>
        <p:nvSpPr>
          <p:cNvPr id="62" name="Google Shape;62;p16"/>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Google Shape;63;p16"/>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64" name="Google Shape;64;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5" name="Google Shape;65;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9" name="Google Shape;69;p17"/>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0" name="Google Shape;70;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1" name="Google Shape;71;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5" name="Google Shape;75;p18"/>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6" name="Google Shape;76;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7" name="Google Shape;77;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1" name="Google Shape;81;p19"/>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2" name="Google Shape;82;p19"/>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3" name="Google Shape;83;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9" name="Google Shape;89;p20"/>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1" name="Google Shape;91;p20"/>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2" name="Google Shape;92;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7" name="Google Shape;97;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9" name="Google Shape;99;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0"/>
        <p:cNvGrpSpPr/>
        <p:nvPr/>
      </p:nvGrpSpPr>
      <p:grpSpPr>
        <a:xfrm>
          <a:off x="0" y="0"/>
          <a:ext cx="0" cy="0"/>
          <a:chOff x="0" y="0"/>
          <a:chExt cx="0" cy="0"/>
        </a:xfrm>
      </p:grpSpPr>
      <p:sp>
        <p:nvSpPr>
          <p:cNvPr id="101" name="Google Shape;101;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2" name="Google Shape;102;p22"/>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3" name="Google Shape;103;p22"/>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4" name="Google Shape;104;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7"/>
        <p:cNvGrpSpPr/>
        <p:nvPr/>
      </p:nvGrpSpPr>
      <p:grpSpPr>
        <a:xfrm>
          <a:off x="0" y="0"/>
          <a:ext cx="0" cy="0"/>
          <a:chOff x="0" y="0"/>
          <a:chExt cx="0" cy="0"/>
        </a:xfrm>
      </p:grpSpPr>
      <p:sp>
        <p:nvSpPr>
          <p:cNvPr id="108" name="Google Shape;108;p2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9" name="Google Shape;109;p23"/>
          <p:cNvSpPr>
            <a:spLocks noGrp="1"/>
          </p:cNvSpPr>
          <p:nvPr>
            <p:ph type="pic" idx="2"/>
          </p:nvPr>
        </p:nvSpPr>
        <p:spPr>
          <a:xfrm>
            <a:off x="3887391" y="740569"/>
            <a:ext cx="4629150" cy="3655219"/>
          </a:xfrm>
          <a:prstGeom prst="rect">
            <a:avLst/>
          </a:prstGeom>
          <a:noFill/>
          <a:ln>
            <a:noFill/>
          </a:ln>
        </p:spPr>
      </p:sp>
      <p:sp>
        <p:nvSpPr>
          <p:cNvPr id="110" name="Google Shape;110;p23"/>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1" name="Google Shape;111;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3" name="Google Shape;113;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4"/>
        <p:cNvGrpSpPr/>
        <p:nvPr/>
      </p:nvGrpSpPr>
      <p:grpSpPr>
        <a:xfrm>
          <a:off x="0" y="0"/>
          <a:ext cx="0" cy="0"/>
          <a:chOff x="0" y="0"/>
          <a:chExt cx="0" cy="0"/>
        </a:xfrm>
      </p:grpSpPr>
      <p:sp>
        <p:nvSpPr>
          <p:cNvPr id="115" name="Google Shape;115;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6" name="Google Shape;116;p24"/>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7" name="Google Shape;117;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9" name="Google Shape;119;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2" name="Google Shape;122;p25"/>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3" name="Google Shape;123;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5" name="Google Shape;125;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Blackhatch0744/Chronova"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6"/>
          <p:cNvPicPr preferRelativeResize="0"/>
          <p:nvPr/>
        </p:nvPicPr>
        <p:blipFill rotWithShape="1">
          <a:blip r:embed="rId3">
            <a:alphaModFix/>
          </a:blip>
          <a:srcRect l="35216" t="9860" r="35722" b="40504"/>
          <a:stretch/>
        </p:blipFill>
        <p:spPr>
          <a:xfrm>
            <a:off x="5529404" y="1214846"/>
            <a:ext cx="3316012" cy="4228678"/>
          </a:xfrm>
          <a:prstGeom prst="rect">
            <a:avLst/>
          </a:prstGeom>
          <a:noFill/>
          <a:ln>
            <a:noFill/>
          </a:ln>
        </p:spPr>
      </p:pic>
      <p:sp>
        <p:nvSpPr>
          <p:cNvPr id="131" name="Google Shape;131;p26"/>
          <p:cNvSpPr txBox="1"/>
          <p:nvPr/>
        </p:nvSpPr>
        <p:spPr>
          <a:xfrm>
            <a:off x="0" y="453346"/>
            <a:ext cx="1636940" cy="300083"/>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500" b="1" i="0" u="none" strike="noStrike" cap="none">
                <a:solidFill>
                  <a:schemeClr val="dk1"/>
                </a:solidFill>
                <a:latin typeface="Overlock"/>
                <a:ea typeface="Overlock"/>
                <a:cs typeface="Overlock"/>
                <a:sym typeface="Overlock"/>
              </a:rPr>
              <a:t>CLASH OF THE</a:t>
            </a:r>
            <a:endParaRPr sz="1500" b="1" i="0" u="none" strike="noStrike" cap="none">
              <a:solidFill>
                <a:srgbClr val="E81B25"/>
              </a:solidFill>
              <a:latin typeface="Overlock"/>
              <a:ea typeface="Overlock"/>
              <a:cs typeface="Overlock"/>
              <a:sym typeface="Overlock"/>
            </a:endParaRPr>
          </a:p>
        </p:txBody>
      </p:sp>
      <p:sp>
        <p:nvSpPr>
          <p:cNvPr id="132" name="Google Shape;132;p26"/>
          <p:cNvSpPr txBox="1"/>
          <p:nvPr/>
        </p:nvSpPr>
        <p:spPr>
          <a:xfrm>
            <a:off x="1317174" y="327090"/>
            <a:ext cx="1568372" cy="484748"/>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700" b="1" i="0" u="none" strike="noStrike" cap="none">
                <a:solidFill>
                  <a:srgbClr val="E81B25"/>
                </a:solidFill>
                <a:latin typeface="Overlock"/>
                <a:ea typeface="Overlock"/>
                <a:cs typeface="Overlock"/>
                <a:sym typeface="Overlock"/>
              </a:rPr>
              <a:t>CLAWS</a:t>
            </a:r>
            <a:endParaRPr sz="2700" b="0" i="0" u="none" strike="noStrike" cap="none">
              <a:solidFill>
                <a:schemeClr val="dk1"/>
              </a:solidFill>
              <a:latin typeface="Overlock"/>
              <a:ea typeface="Overlock"/>
              <a:cs typeface="Overlock"/>
              <a:sym typeface="Overlock"/>
            </a:endParaRPr>
          </a:p>
        </p:txBody>
      </p:sp>
      <p:sp>
        <p:nvSpPr>
          <p:cNvPr id="133" name="Google Shape;133;p26"/>
          <p:cNvSpPr txBox="1"/>
          <p:nvPr/>
        </p:nvSpPr>
        <p:spPr>
          <a:xfrm>
            <a:off x="405095" y="1171715"/>
            <a:ext cx="5431200" cy="38097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700" b="1" i="0" u="none" strike="noStrike" cap="none" dirty="0">
                <a:solidFill>
                  <a:srgbClr val="E81B25"/>
                </a:solidFill>
                <a:latin typeface="Overlock"/>
                <a:ea typeface="Overlock"/>
                <a:cs typeface="Overlock"/>
                <a:sym typeface="Overlock"/>
              </a:rPr>
              <a:t>Ramaiah Institute of Technology</a:t>
            </a:r>
            <a:endParaRPr sz="2700" b="1" i="0" u="none" strike="noStrike" cap="none" dirty="0">
              <a:solidFill>
                <a:srgbClr val="E81B25"/>
              </a:solidFill>
              <a:latin typeface="Overlock"/>
              <a:ea typeface="Overlock"/>
              <a:cs typeface="Overlock"/>
              <a:sym typeface="Overlock"/>
            </a:endParaRPr>
          </a:p>
          <a:p>
            <a:pPr marL="0" marR="0" lvl="0" indent="0" algn="ctr" rtl="0">
              <a:spcBef>
                <a:spcPts val="0"/>
              </a:spcBef>
              <a:spcAft>
                <a:spcPts val="0"/>
              </a:spcAft>
              <a:buNone/>
            </a:pPr>
            <a:r>
              <a:rPr lang="en-GB" sz="2700" b="1" i="0" u="none" strike="noStrike" cap="none" dirty="0">
                <a:solidFill>
                  <a:srgbClr val="E81B25"/>
                </a:solidFill>
                <a:latin typeface="Overlock"/>
                <a:ea typeface="Overlock"/>
                <a:cs typeface="Overlock"/>
                <a:sym typeface="Overlock"/>
              </a:rPr>
              <a:t>Orynth</a:t>
            </a:r>
            <a:endParaRPr sz="1100" dirty="0"/>
          </a:p>
          <a:p>
            <a:pPr marL="0" marR="0" lvl="0" indent="0" algn="ctr" rtl="0">
              <a:spcBef>
                <a:spcPts val="0"/>
              </a:spcBef>
              <a:spcAft>
                <a:spcPts val="0"/>
              </a:spcAft>
              <a:buNone/>
            </a:pPr>
            <a:r>
              <a:rPr lang="en-GB" sz="2700" b="1" dirty="0">
                <a:solidFill>
                  <a:srgbClr val="E81B25"/>
                </a:solidFill>
                <a:latin typeface="Overlock"/>
                <a:ea typeface="Overlock"/>
                <a:cs typeface="Overlock"/>
                <a:sym typeface="Overlock"/>
              </a:rPr>
              <a:t>“</a:t>
            </a:r>
            <a:r>
              <a:rPr lang="en-GB" sz="2700" b="1" i="0" u="none" strike="noStrike" cap="none" dirty="0">
                <a:solidFill>
                  <a:srgbClr val="E81B25"/>
                </a:solidFill>
                <a:latin typeface="Overlock"/>
                <a:ea typeface="Overlock"/>
                <a:cs typeface="Overlock"/>
                <a:sym typeface="Overlock"/>
              </a:rPr>
              <a:t>Because </a:t>
            </a:r>
            <a:r>
              <a:rPr lang="en-GB" sz="2700" b="1" dirty="0">
                <a:solidFill>
                  <a:srgbClr val="E81B25"/>
                </a:solidFill>
                <a:latin typeface="Overlock"/>
                <a:ea typeface="Overlock"/>
                <a:cs typeface="Overlock"/>
                <a:sym typeface="Overlock"/>
              </a:rPr>
              <a:t>Every Second Matters”</a:t>
            </a:r>
            <a:endParaRPr sz="1100" dirty="0"/>
          </a:p>
          <a:p>
            <a:pPr marL="0" marR="0" lvl="0" indent="0" algn="ctr" rtl="0">
              <a:spcBef>
                <a:spcPts val="0"/>
              </a:spcBef>
              <a:spcAft>
                <a:spcPts val="0"/>
              </a:spcAft>
              <a:buNone/>
            </a:pPr>
            <a:endParaRPr sz="2700" b="1" i="0" u="none" strike="noStrike" cap="none" dirty="0">
              <a:solidFill>
                <a:srgbClr val="E81B25"/>
              </a:solidFill>
              <a:latin typeface="Overlock"/>
              <a:ea typeface="Overlock"/>
              <a:cs typeface="Overlock"/>
              <a:sym typeface="Overlock"/>
            </a:endParaRPr>
          </a:p>
          <a:p>
            <a:pPr marL="0" marR="0" lvl="0" indent="0" algn="ctr" rtl="0">
              <a:spcBef>
                <a:spcPts val="0"/>
              </a:spcBef>
              <a:spcAft>
                <a:spcPts val="0"/>
              </a:spcAft>
              <a:buNone/>
            </a:pPr>
            <a:r>
              <a:rPr lang="en-GB" sz="2700" b="1" dirty="0">
                <a:solidFill>
                  <a:schemeClr val="dk2"/>
                </a:solidFill>
                <a:latin typeface="Overlock"/>
                <a:ea typeface="Overlock"/>
                <a:cs typeface="Overlock"/>
                <a:sym typeface="Overlock"/>
              </a:rPr>
              <a:t>Moulik </a:t>
            </a:r>
            <a:r>
              <a:rPr lang="en-GB" sz="2700" b="1" i="0" u="none" strike="noStrike" cap="none" dirty="0">
                <a:solidFill>
                  <a:schemeClr val="dk2"/>
                </a:solidFill>
                <a:latin typeface="Overlock"/>
                <a:ea typeface="Overlock"/>
                <a:cs typeface="Overlock"/>
                <a:sym typeface="Overlock"/>
              </a:rPr>
              <a:t>Surana</a:t>
            </a:r>
            <a:endParaRPr sz="1100" dirty="0"/>
          </a:p>
          <a:p>
            <a:pPr marL="0" marR="0" lvl="0" indent="0" algn="ctr" rtl="0">
              <a:spcBef>
                <a:spcPts val="0"/>
              </a:spcBef>
              <a:spcAft>
                <a:spcPts val="0"/>
              </a:spcAft>
              <a:buNone/>
            </a:pPr>
            <a:r>
              <a:rPr lang="en-GB" sz="2700" b="1" i="0" u="none" strike="noStrike" cap="none" dirty="0">
                <a:solidFill>
                  <a:schemeClr val="dk2"/>
                </a:solidFill>
                <a:latin typeface="Overlock"/>
                <a:ea typeface="Overlock"/>
                <a:cs typeface="Overlock"/>
                <a:sym typeface="Overlock"/>
              </a:rPr>
              <a:t>Raj Aryan</a:t>
            </a:r>
            <a:endParaRPr sz="1100" dirty="0"/>
          </a:p>
          <a:p>
            <a:pPr marL="0" marR="0" lvl="0" indent="0" algn="ctr" rtl="0">
              <a:spcBef>
                <a:spcPts val="0"/>
              </a:spcBef>
              <a:spcAft>
                <a:spcPts val="0"/>
              </a:spcAft>
              <a:buNone/>
            </a:pPr>
            <a:r>
              <a:rPr lang="en-GB" sz="2700" b="1" dirty="0">
                <a:solidFill>
                  <a:schemeClr val="dk2"/>
                </a:solidFill>
                <a:latin typeface="Overlock"/>
                <a:ea typeface="Overlock"/>
                <a:cs typeface="Overlock"/>
                <a:sym typeface="Overlock"/>
              </a:rPr>
              <a:t>Abhishek Kumar</a:t>
            </a:r>
            <a:endParaRPr sz="1100" dirty="0"/>
          </a:p>
          <a:p>
            <a:pPr marL="0" marR="0" lvl="0" indent="0" algn="ctr" rtl="0">
              <a:spcBef>
                <a:spcPts val="0"/>
              </a:spcBef>
              <a:spcAft>
                <a:spcPts val="0"/>
              </a:spcAft>
              <a:buNone/>
            </a:pPr>
            <a:r>
              <a:rPr lang="en-GB" sz="2700" b="1" dirty="0">
                <a:solidFill>
                  <a:schemeClr val="dk2"/>
                </a:solidFill>
                <a:latin typeface="Overlock"/>
                <a:ea typeface="Overlock"/>
                <a:cs typeface="Overlock"/>
                <a:sym typeface="Overlock"/>
              </a:rPr>
              <a:t>Omkar Sharma</a:t>
            </a:r>
            <a:br>
              <a:rPr lang="en-GB" sz="2700" b="1" i="0" u="none" strike="noStrike" cap="none" dirty="0">
                <a:solidFill>
                  <a:schemeClr val="dk2"/>
                </a:solidFill>
                <a:latin typeface="Overlock"/>
                <a:ea typeface="Overlock"/>
                <a:cs typeface="Overlock"/>
                <a:sym typeface="Overlock"/>
              </a:rPr>
            </a:br>
            <a:endParaRPr sz="2700" b="1" i="0" u="none" strike="noStrike" cap="none" dirty="0">
              <a:solidFill>
                <a:schemeClr val="dk2"/>
              </a:solidFill>
              <a:latin typeface="Overlock"/>
              <a:ea typeface="Overlock"/>
              <a:cs typeface="Overlock"/>
              <a:sym typeface="Overlock"/>
            </a:endParaRPr>
          </a:p>
        </p:txBody>
      </p:sp>
      <p:grpSp>
        <p:nvGrpSpPr>
          <p:cNvPr id="134" name="Google Shape;134;p26"/>
          <p:cNvGrpSpPr/>
          <p:nvPr/>
        </p:nvGrpSpPr>
        <p:grpSpPr>
          <a:xfrm>
            <a:off x="103016" y="35060"/>
            <a:ext cx="2860619" cy="479284"/>
            <a:chOff x="137355" y="133834"/>
            <a:chExt cx="3814159" cy="639045"/>
          </a:xfrm>
        </p:grpSpPr>
        <p:pic>
          <p:nvPicPr>
            <p:cNvPr id="135" name="Google Shape;135;p26"/>
            <p:cNvPicPr preferRelativeResize="0"/>
            <p:nvPr/>
          </p:nvPicPr>
          <p:blipFill rotWithShape="1">
            <a:blip r:embed="rId4">
              <a:alphaModFix/>
            </a:blip>
            <a:srcRect/>
            <a:stretch/>
          </p:blipFill>
          <p:spPr>
            <a:xfrm>
              <a:off x="137355" y="133834"/>
              <a:ext cx="974396" cy="639045"/>
            </a:xfrm>
            <a:prstGeom prst="rect">
              <a:avLst/>
            </a:prstGeom>
            <a:noFill/>
            <a:ln>
              <a:noFill/>
            </a:ln>
          </p:spPr>
        </p:pic>
        <p:sp>
          <p:nvSpPr>
            <p:cNvPr id="136" name="Google Shape;136;p26"/>
            <p:cNvSpPr txBox="1"/>
            <p:nvPr/>
          </p:nvSpPr>
          <p:spPr>
            <a:xfrm>
              <a:off x="1017814" y="244337"/>
              <a:ext cx="2933700" cy="369332"/>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1400" b="1" i="0" u="none" strike="noStrike" cap="none">
                  <a:solidFill>
                    <a:schemeClr val="dk1"/>
                  </a:solidFill>
                  <a:latin typeface="Overlock"/>
                  <a:ea typeface="Overlock"/>
                  <a:cs typeface="Overlock"/>
                  <a:sym typeface="Overlock"/>
                </a:rPr>
                <a:t>| Tech Management, SRI-B</a:t>
              </a:r>
              <a:endParaRPr sz="1400" b="1" i="0" u="none" strike="noStrike" cap="none">
                <a:solidFill>
                  <a:srgbClr val="E81B25"/>
                </a:solidFill>
                <a:latin typeface="Overlock"/>
                <a:ea typeface="Overlock"/>
                <a:cs typeface="Overlock"/>
                <a:sym typeface="Overlock"/>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p:nvPr/>
        </p:nvSpPr>
        <p:spPr>
          <a:xfrm>
            <a:off x="0" y="0"/>
            <a:ext cx="9144000" cy="64008"/>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44" name="Google Shape;144;p27"/>
          <p:cNvSpPr/>
          <p:nvPr/>
        </p:nvSpPr>
        <p:spPr>
          <a:xfrm>
            <a:off x="457200" y="164592"/>
            <a:ext cx="14630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i="0" u="none" strike="noStrike" cap="none">
                <a:solidFill>
                  <a:schemeClr val="lt1"/>
                </a:solidFill>
                <a:latin typeface="Calibri"/>
                <a:ea typeface="Calibri"/>
                <a:cs typeface="Calibri"/>
                <a:sym typeface="Calibri"/>
              </a:rPr>
              <a:t>Idea</a:t>
            </a:r>
            <a:endParaRPr sz="800" b="0" i="0" u="none" strike="noStrike" cap="none">
              <a:solidFill>
                <a:schemeClr val="lt1"/>
              </a:solidFill>
              <a:latin typeface="Calibri"/>
              <a:ea typeface="Calibri"/>
              <a:cs typeface="Calibri"/>
              <a:sym typeface="Calibri"/>
            </a:endParaRPr>
          </a:p>
        </p:txBody>
      </p:sp>
      <p:sp>
        <p:nvSpPr>
          <p:cNvPr id="145" name="Google Shape;145;p27"/>
          <p:cNvSpPr/>
          <p:nvPr/>
        </p:nvSpPr>
        <p:spPr>
          <a:xfrm>
            <a:off x="457200" y="374486"/>
            <a:ext cx="8229600" cy="54838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i="0" u="none" strike="noStrike" cap="none" dirty="0">
                <a:solidFill>
                  <a:schemeClr val="dk1"/>
                </a:solidFill>
                <a:latin typeface="Calibri"/>
                <a:ea typeface="Calibri"/>
                <a:cs typeface="Calibri"/>
                <a:sym typeface="Calibri"/>
              </a:rPr>
              <a:t>Problem Statement</a:t>
            </a:r>
            <a:endParaRPr sz="3200" dirty="0">
              <a:solidFill>
                <a:schemeClr val="dk1"/>
              </a:solidFill>
              <a:latin typeface="Calibri"/>
              <a:ea typeface="Calibri"/>
              <a:cs typeface="Calibri"/>
              <a:sym typeface="Calibri"/>
            </a:endParaRPr>
          </a:p>
        </p:txBody>
      </p:sp>
      <p:sp>
        <p:nvSpPr>
          <p:cNvPr id="146" name="Google Shape;146;p27"/>
          <p:cNvSpPr txBox="1"/>
          <p:nvPr/>
        </p:nvSpPr>
        <p:spPr>
          <a:xfrm>
            <a:off x="457125" y="922867"/>
            <a:ext cx="8229675" cy="4087242"/>
          </a:xfrm>
          <a:prstGeom prst="rect">
            <a:avLst/>
          </a:prstGeom>
          <a:noFill/>
          <a:ln>
            <a:noFill/>
          </a:ln>
        </p:spPr>
        <p:txBody>
          <a:bodyPr spcFirstLastPara="1" wrap="square" lIns="68575" tIns="34275" rIns="68575" bIns="34275" anchor="t" anchorCtr="0">
            <a:spAutoFit/>
          </a:bodyPr>
          <a:lstStyle/>
          <a:p>
            <a:pPr marL="0" lvl="0" indent="0" algn="just" rtl="0">
              <a:lnSpc>
                <a:spcPct val="115000"/>
              </a:lnSpc>
              <a:spcBef>
                <a:spcPts val="0"/>
              </a:spcBef>
              <a:spcAft>
                <a:spcPts val="0"/>
              </a:spcAft>
              <a:buNone/>
            </a:pPr>
            <a:r>
              <a:rPr lang="en-GB" b="1" dirty="0">
                <a:solidFill>
                  <a:schemeClr val="dk1"/>
                </a:solidFill>
                <a:latin typeface="Times New Roman" panose="02020603050405020304" pitchFamily="18" charset="0"/>
                <a:ea typeface="Times"/>
                <a:cs typeface="Times New Roman" panose="02020603050405020304" pitchFamily="18" charset="0"/>
                <a:sym typeface="Times"/>
              </a:rPr>
              <a:t>Why we selected the theme (daily utility)? </a:t>
            </a:r>
            <a:r>
              <a:rPr lang="en-GB" dirty="0">
                <a:solidFill>
                  <a:schemeClr val="dk1"/>
                </a:solidFill>
                <a:latin typeface="Times New Roman" panose="02020603050405020304" pitchFamily="18" charset="0"/>
                <a:ea typeface="Times"/>
                <a:cs typeface="Times New Roman" panose="02020603050405020304" pitchFamily="18" charset="0"/>
                <a:sym typeface="Times"/>
              </a:rPr>
              <a:t>: The reason we chose Daily Utility was its applicability to universal and practical issues experienced daily by students and working individuals. Contrary to the conventional productivity software which is entirely dependent on human input, and GenAI systems restricted to a particular audience, our tool functions as an intelligent and adaptive assistant that makes people’s lives easier by automating processes.</a:t>
            </a:r>
            <a:br>
              <a:rPr lang="en-GB" dirty="0">
                <a:solidFill>
                  <a:schemeClr val="dk1"/>
                </a:solidFill>
                <a:latin typeface="Times New Roman" panose="02020603050405020304" pitchFamily="18" charset="0"/>
                <a:ea typeface="Times"/>
                <a:cs typeface="Times New Roman" panose="02020603050405020304" pitchFamily="18" charset="0"/>
                <a:sym typeface="Times"/>
              </a:rPr>
            </a:br>
            <a:r>
              <a:rPr lang="en-GB" b="1" dirty="0">
                <a:solidFill>
                  <a:schemeClr val="dk1"/>
                </a:solidFill>
                <a:latin typeface="Times New Roman" panose="02020603050405020304" pitchFamily="18" charset="0"/>
                <a:ea typeface="Times"/>
                <a:cs typeface="Times New Roman" panose="02020603050405020304" pitchFamily="18" charset="0"/>
                <a:sym typeface="Times"/>
              </a:rPr>
              <a:t>What problem are you solving? </a:t>
            </a:r>
            <a:r>
              <a:rPr lang="en-GB" dirty="0">
                <a:solidFill>
                  <a:schemeClr val="dk1"/>
                </a:solidFill>
                <a:latin typeface="Times New Roman" panose="02020603050405020304" pitchFamily="18" charset="0"/>
                <a:ea typeface="Times"/>
                <a:cs typeface="Times New Roman" panose="02020603050405020304" pitchFamily="18" charset="0"/>
                <a:sym typeface="Times"/>
              </a:rPr>
              <a:t>: These days people have several applications such as static alarm clocks, calendars, e-mails, reminder systems, and maps, but they operate independently and do not take into account the external conditions of life such as traffic jams, interruptions, re-scheduling, and workload. Thus, there is an increase in failure to meet deadlines, schedule collisions, manual scheduling all the time, and high levels of stress. To address this problem, we have created a system based on artificial intelligence which will help users manage their daily routine.</a:t>
            </a:r>
            <a:endParaRPr dirty="0">
              <a:latin typeface="Times New Roman" panose="02020603050405020304" pitchFamily="18" charset="0"/>
              <a:ea typeface="Times"/>
              <a:cs typeface="Times New Roman" panose="02020603050405020304" pitchFamily="18" charset="0"/>
              <a:sym typeface="Times"/>
            </a:endParaRPr>
          </a:p>
          <a:p>
            <a:pPr marL="0" marR="0" lvl="0" indent="0" algn="just" rtl="0">
              <a:spcBef>
                <a:spcPts val="0"/>
              </a:spcBef>
              <a:spcAft>
                <a:spcPts val="0"/>
              </a:spcAft>
              <a:buNone/>
            </a:pPr>
            <a:r>
              <a:rPr lang="en-GB" b="1" dirty="0">
                <a:solidFill>
                  <a:schemeClr val="dk1"/>
                </a:solidFill>
                <a:latin typeface="Times New Roman" panose="02020603050405020304" pitchFamily="18" charset="0"/>
                <a:ea typeface="Times"/>
                <a:cs typeface="Times New Roman" panose="02020603050405020304" pitchFamily="18" charset="0"/>
                <a:sym typeface="Times"/>
              </a:rPr>
              <a:t>Who Faces it? </a:t>
            </a:r>
            <a:r>
              <a:rPr lang="en-GB" dirty="0">
                <a:solidFill>
                  <a:schemeClr val="dk1"/>
                </a:solidFill>
                <a:latin typeface="Times New Roman" panose="02020603050405020304" pitchFamily="18" charset="0"/>
                <a:ea typeface="Times"/>
                <a:cs typeface="Times New Roman" panose="02020603050405020304" pitchFamily="18" charset="0"/>
                <a:sym typeface="Times"/>
              </a:rPr>
              <a:t>: Students and working professionals who struggle with managing daily schedules, deadlines, meetings, travel, and multiple apps simultaneously while dealing with frequent real-world disruptions like traffic, delays, and sudden schedule changes. </a:t>
            </a:r>
            <a:endParaRPr dirty="0">
              <a:latin typeface="Times New Roman" panose="02020603050405020304" pitchFamily="18" charset="0"/>
              <a:ea typeface="Times"/>
              <a:cs typeface="Times New Roman" panose="02020603050405020304" pitchFamily="18" charset="0"/>
              <a:sym typeface="Times"/>
            </a:endParaRPr>
          </a:p>
          <a:p>
            <a:pPr marL="0" marR="0" lvl="0" indent="0" algn="just" rtl="0">
              <a:spcBef>
                <a:spcPts val="0"/>
              </a:spcBef>
              <a:spcAft>
                <a:spcPts val="0"/>
              </a:spcAft>
              <a:buNone/>
            </a:pPr>
            <a:r>
              <a:rPr lang="en-GB" b="1" dirty="0">
                <a:solidFill>
                  <a:schemeClr val="dk1"/>
                </a:solidFill>
                <a:latin typeface="Times New Roman" panose="02020603050405020304" pitchFamily="18" charset="0"/>
                <a:ea typeface="Times"/>
                <a:cs typeface="Times New Roman" panose="02020603050405020304" pitchFamily="18" charset="0"/>
                <a:sym typeface="Times"/>
              </a:rPr>
              <a:t>Why is it important?</a:t>
            </a:r>
            <a:r>
              <a:rPr lang="en-GB" dirty="0">
                <a:solidFill>
                  <a:schemeClr val="dk1"/>
                </a:solidFill>
                <a:latin typeface="Times New Roman" panose="02020603050405020304" pitchFamily="18" charset="0"/>
                <a:ea typeface="Times"/>
                <a:cs typeface="Times New Roman" panose="02020603050405020304" pitchFamily="18" charset="0"/>
                <a:sym typeface="Times"/>
              </a:rPr>
              <a:t> : The problem affects everyday productivity, time management, and mental well-being by creating unnecessary stress, missed commitments, poor coordination, and cognitive overload. Solving it can help users save time, stay organized, reduce daily friction, and make smarter real-time decisions. </a:t>
            </a:r>
            <a:endParaRPr dirty="0">
              <a:latin typeface="Times New Roman" panose="02020603050405020304" pitchFamily="18" charset="0"/>
              <a:ea typeface="Times"/>
              <a:cs typeface="Times New Roman" panose="02020603050405020304" pitchFamily="18" charset="0"/>
              <a:sym typeface="Times"/>
            </a:endParaRPr>
          </a:p>
        </p:txBody>
      </p:sp>
      <p:sp>
        <p:nvSpPr>
          <p:cNvPr id="147" name="Google Shape;147;p27"/>
          <p:cNvSpPr txBox="1"/>
          <p:nvPr/>
        </p:nvSpPr>
        <p:spPr>
          <a:xfrm>
            <a:off x="5002553" y="3109241"/>
            <a:ext cx="20700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8"/>
          <p:cNvSpPr/>
          <p:nvPr/>
        </p:nvSpPr>
        <p:spPr>
          <a:xfrm>
            <a:off x="0" y="0"/>
            <a:ext cx="9144000" cy="64008"/>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55" name="Google Shape;155;p28"/>
          <p:cNvSpPr/>
          <p:nvPr/>
        </p:nvSpPr>
        <p:spPr>
          <a:xfrm>
            <a:off x="457200" y="164592"/>
            <a:ext cx="14630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dirty="0">
                <a:solidFill>
                  <a:schemeClr val="lt1"/>
                </a:solidFill>
                <a:latin typeface="Calibri"/>
                <a:ea typeface="Calibri"/>
                <a:cs typeface="Calibri"/>
                <a:sym typeface="Calibri"/>
              </a:rPr>
              <a:t>Ide</a:t>
            </a:r>
            <a:endParaRPr sz="800" dirty="0">
              <a:solidFill>
                <a:schemeClr val="lt1"/>
              </a:solidFill>
              <a:latin typeface="Calibri"/>
              <a:ea typeface="Calibri"/>
              <a:cs typeface="Calibri"/>
              <a:sym typeface="Calibri"/>
            </a:endParaRPr>
          </a:p>
        </p:txBody>
      </p:sp>
      <p:sp>
        <p:nvSpPr>
          <p:cNvPr id="156" name="Google Shape;156;p28"/>
          <p:cNvSpPr/>
          <p:nvPr/>
        </p:nvSpPr>
        <p:spPr>
          <a:xfrm>
            <a:off x="457200" y="420624"/>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Current Solution &amp; Gaps</a:t>
            </a:r>
            <a:endParaRPr sz="3200" dirty="0">
              <a:solidFill>
                <a:schemeClr val="dk1"/>
              </a:solidFill>
              <a:latin typeface="Calibri"/>
              <a:ea typeface="Calibri"/>
              <a:cs typeface="Calibri"/>
              <a:sym typeface="Calibri"/>
            </a:endParaRPr>
          </a:p>
        </p:txBody>
      </p:sp>
      <p:sp>
        <p:nvSpPr>
          <p:cNvPr id="157" name="Google Shape;157;p28"/>
          <p:cNvSpPr/>
          <p:nvPr/>
        </p:nvSpPr>
        <p:spPr>
          <a:xfrm>
            <a:off x="4389120" y="1046946"/>
            <a:ext cx="3840480" cy="4114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20000">
              <a:solidFill>
                <a:schemeClr val="dk1"/>
              </a:solidFill>
              <a:latin typeface="Calibri"/>
              <a:ea typeface="Calibri"/>
              <a:cs typeface="Calibri"/>
              <a:sym typeface="Calibri"/>
            </a:endParaRPr>
          </a:p>
        </p:txBody>
      </p:sp>
      <p:sp>
        <p:nvSpPr>
          <p:cNvPr id="158" name="Google Shape;158;p28"/>
          <p:cNvSpPr txBox="1"/>
          <p:nvPr/>
        </p:nvSpPr>
        <p:spPr>
          <a:xfrm>
            <a:off x="413475" y="1046946"/>
            <a:ext cx="2853000" cy="4136487"/>
          </a:xfrm>
          <a:prstGeom prst="rect">
            <a:avLst/>
          </a:prstGeom>
          <a:noFill/>
          <a:ln>
            <a:noFill/>
          </a:ln>
        </p:spPr>
        <p:txBody>
          <a:bodyPr spcFirstLastPara="1" wrap="square" lIns="68575" tIns="34275" rIns="68575" bIns="34275" anchor="t" anchorCtr="0">
            <a:spAutoFit/>
          </a:bodyPr>
          <a:lstStyle/>
          <a:p>
            <a:pPr marL="0" lvl="0" indent="0"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ea typeface="Times"/>
                <a:cs typeface="Times New Roman" panose="02020603050405020304" pitchFamily="18" charset="0"/>
                <a:sym typeface="Times"/>
              </a:rPr>
              <a:t>Existing Apps</a:t>
            </a:r>
            <a:endParaRPr b="1"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120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Google Calendar</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Alarm Clock Apps</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Notion/</a:t>
            </a:r>
            <a:r>
              <a:rPr lang="en-GB" dirty="0" err="1">
                <a:solidFill>
                  <a:schemeClr val="dk1"/>
                </a:solidFill>
                <a:latin typeface="Times New Roman" panose="02020603050405020304" pitchFamily="18" charset="0"/>
                <a:ea typeface="Times"/>
                <a:cs typeface="Times New Roman" panose="02020603050405020304" pitchFamily="18" charset="0"/>
                <a:sym typeface="Times"/>
              </a:rPr>
              <a:t>Todolist</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Digital Well-being</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Productivity trackers</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0" lvl="0" indent="0" rtl="0">
              <a:lnSpc>
                <a:spcPct val="115000"/>
              </a:lnSpc>
              <a:spcBef>
                <a:spcPts val="1400"/>
              </a:spcBef>
              <a:spcAft>
                <a:spcPts val="0"/>
              </a:spcAft>
              <a:buNone/>
            </a:pPr>
            <a:r>
              <a:rPr lang="en-GB" b="1" dirty="0">
                <a:solidFill>
                  <a:schemeClr val="dk1"/>
                </a:solidFill>
                <a:latin typeface="Times New Roman" panose="02020603050405020304" pitchFamily="18" charset="0"/>
                <a:ea typeface="Times"/>
                <a:cs typeface="Times New Roman" panose="02020603050405020304" pitchFamily="18" charset="0"/>
                <a:sym typeface="Times"/>
              </a:rPr>
              <a:t>Opportunity</a:t>
            </a:r>
          </a:p>
          <a:p>
            <a:pPr marL="0" lvl="0" indent="0" rtl="0">
              <a:lnSpc>
                <a:spcPct val="115000"/>
              </a:lnSpc>
              <a:spcBef>
                <a:spcPts val="1400"/>
              </a:spcBef>
              <a:spcAft>
                <a:spcPts val="0"/>
              </a:spcAft>
              <a:buNone/>
            </a:pPr>
            <a:r>
              <a:rPr lang="en-GB" dirty="0">
                <a:solidFill>
                  <a:schemeClr val="dk1"/>
                </a:solidFill>
                <a:latin typeface="Times New Roman" panose="02020603050405020304" pitchFamily="18" charset="0"/>
                <a:ea typeface="Times"/>
                <a:cs typeface="Times New Roman" panose="02020603050405020304" pitchFamily="18" charset="0"/>
                <a:sym typeface="Times"/>
              </a:rPr>
              <a:t>Create one unified AI system that:</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120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Understands time</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Predicts distractions</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Adapts schedules</a:t>
            </a:r>
            <a:endParaRPr dirty="0">
              <a:solidFill>
                <a:schemeClr val="dk1"/>
              </a:solidFill>
              <a:latin typeface="Times New Roman" panose="02020603050405020304" pitchFamily="18" charset="0"/>
              <a:ea typeface="Times"/>
              <a:cs typeface="Times New Roman" panose="02020603050405020304" pitchFamily="18" charset="0"/>
              <a:sym typeface="Times"/>
            </a:endParaRPr>
          </a:p>
          <a:p>
            <a:pPr marL="457200" lvl="0" indent="-304800" rtl="0">
              <a:lnSpc>
                <a:spcPct val="115000"/>
              </a:lnSpc>
              <a:spcBef>
                <a:spcPts val="0"/>
              </a:spcBef>
              <a:spcAft>
                <a:spcPts val="0"/>
              </a:spcAft>
              <a:buClr>
                <a:schemeClr val="dk1"/>
              </a:buClr>
              <a:buSzPts val="1200"/>
              <a:buFont typeface="Times"/>
              <a:buChar char="●"/>
            </a:pPr>
            <a:r>
              <a:rPr lang="en-GB" dirty="0">
                <a:solidFill>
                  <a:schemeClr val="dk1"/>
                </a:solidFill>
                <a:latin typeface="Times New Roman" panose="02020603050405020304" pitchFamily="18" charset="0"/>
                <a:ea typeface="Times"/>
                <a:cs typeface="Times New Roman" panose="02020603050405020304" pitchFamily="18" charset="0"/>
                <a:sym typeface="Times"/>
              </a:rPr>
              <a:t>Optimizes routines automatically</a:t>
            </a:r>
            <a:endParaRPr dirty="0">
              <a:solidFill>
                <a:schemeClr val="dk1"/>
              </a:solidFill>
              <a:latin typeface="Times New Roman" panose="02020603050405020304" pitchFamily="18" charset="0"/>
              <a:ea typeface="Times"/>
              <a:cs typeface="Times New Roman" panose="02020603050405020304" pitchFamily="18" charset="0"/>
              <a:sym typeface="Times"/>
            </a:endParaRPr>
          </a:p>
        </p:txBody>
      </p:sp>
      <p:sp>
        <p:nvSpPr>
          <p:cNvPr id="160" name="Google Shape;160;p28"/>
          <p:cNvSpPr txBox="1"/>
          <p:nvPr/>
        </p:nvSpPr>
        <p:spPr>
          <a:xfrm>
            <a:off x="4680000" y="502925"/>
            <a:ext cx="3000000" cy="640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1800"/>
              </a:spcBef>
              <a:spcAft>
                <a:spcPts val="400"/>
              </a:spcAft>
              <a:buNone/>
            </a:pPr>
            <a:endParaRPr sz="1700" b="1"/>
          </a:p>
        </p:txBody>
      </p:sp>
      <p:sp>
        <p:nvSpPr>
          <p:cNvPr id="161" name="Google Shape;161;p28"/>
          <p:cNvSpPr txBox="1"/>
          <p:nvPr/>
        </p:nvSpPr>
        <p:spPr>
          <a:xfrm>
            <a:off x="4013675" y="1060704"/>
            <a:ext cx="4809650" cy="396300"/>
          </a:xfrm>
          <a:prstGeom prst="rect">
            <a:avLst/>
          </a:prstGeom>
          <a:noFill/>
          <a:ln>
            <a:noFill/>
          </a:ln>
        </p:spPr>
        <p:txBody>
          <a:bodyPr spcFirstLastPara="1" wrap="square" lIns="91425" tIns="91425" rIns="91425" bIns="91425" anchor="ctr" anchorCtr="0">
            <a:noAutofit/>
          </a:bodyPr>
          <a:lstStyle/>
          <a:p>
            <a:pPr marL="0" lvl="0" indent="0" rtl="0">
              <a:lnSpc>
                <a:spcPct val="115000"/>
              </a:lnSpc>
              <a:spcBef>
                <a:spcPts val="1800"/>
              </a:spcBef>
              <a:spcAft>
                <a:spcPts val="400"/>
              </a:spcAft>
              <a:buNone/>
            </a:pPr>
            <a:r>
              <a:rPr lang="en-GB" sz="1800" b="1" dirty="0">
                <a:latin typeface="Times New Roman" panose="02020603050405020304" pitchFamily="18" charset="0"/>
                <a:ea typeface="Times"/>
                <a:cs typeface="Times New Roman" panose="02020603050405020304" pitchFamily="18" charset="0"/>
                <a:sym typeface="Times"/>
              </a:rPr>
              <a:t>Missing Gaps</a:t>
            </a:r>
            <a:endParaRPr sz="1800" b="1" dirty="0">
              <a:latin typeface="Times New Roman" panose="02020603050405020304" pitchFamily="18" charset="0"/>
              <a:ea typeface="Times"/>
              <a:cs typeface="Times New Roman" panose="02020603050405020304" pitchFamily="18" charset="0"/>
              <a:sym typeface="Times"/>
            </a:endParaRPr>
          </a:p>
        </p:txBody>
      </p:sp>
      <p:graphicFrame>
        <p:nvGraphicFramePr>
          <p:cNvPr id="162" name="Google Shape;162;p28"/>
          <p:cNvGraphicFramePr/>
          <p:nvPr>
            <p:extLst>
              <p:ext uri="{D42A27DB-BD31-4B8C-83A1-F6EECF244321}">
                <p14:modId xmlns:p14="http://schemas.microsoft.com/office/powerpoint/2010/main" val="3534479398"/>
              </p:ext>
            </p:extLst>
          </p:nvPr>
        </p:nvGraphicFramePr>
        <p:xfrm>
          <a:off x="4013675" y="1488891"/>
          <a:ext cx="4747350" cy="2848367"/>
        </p:xfrm>
        <a:graphic>
          <a:graphicData uri="http://schemas.openxmlformats.org/drawingml/2006/table">
            <a:tbl>
              <a:tblPr>
                <a:noFill/>
                <a:tableStyleId>{82D9C0F1-B2F2-4428-A493-E4D844A638A9}</a:tableStyleId>
              </a:tblPr>
              <a:tblGrid>
                <a:gridCol w="112785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275700">
                <a:tc>
                  <a:txBody>
                    <a:bodyPr/>
                    <a:lstStyle/>
                    <a:p>
                      <a:pPr marL="0" lvl="0" indent="0" algn="ctr" rtl="0">
                        <a:lnSpc>
                          <a:spcPct val="115000"/>
                        </a:lnSpc>
                        <a:spcBef>
                          <a:spcPts val="0"/>
                        </a:spcBef>
                        <a:spcAft>
                          <a:spcPts val="0"/>
                        </a:spcAft>
                        <a:buNone/>
                      </a:pPr>
                      <a:r>
                        <a:rPr lang="en-GB" b="1" dirty="0">
                          <a:latin typeface="Times New Roman" panose="02020603050405020304" pitchFamily="18" charset="0"/>
                          <a:ea typeface="Times"/>
                          <a:cs typeface="Times New Roman" panose="02020603050405020304" pitchFamily="18" charset="0"/>
                          <a:sym typeface="Times"/>
                        </a:rPr>
                        <a:t>Existing Apps</a:t>
                      </a:r>
                      <a:endParaRPr b="1" dirty="0">
                        <a:latin typeface="Times New Roman" panose="02020603050405020304" pitchFamily="18" charset="0"/>
                        <a:ea typeface="Times"/>
                        <a:cs typeface="Times New Roman" panose="02020603050405020304" pitchFamily="18" charset="0"/>
                        <a:sym typeface="Times"/>
                      </a:endParaRPr>
                    </a:p>
                  </a:txBody>
                  <a:tcPr marL="91425" marR="91425" marT="91425" marB="91425"/>
                </a:tc>
                <a:tc>
                  <a:txBody>
                    <a:bodyPr/>
                    <a:lstStyle/>
                    <a:p>
                      <a:pPr marL="0" lvl="0" indent="0" algn="ctr" rtl="0">
                        <a:lnSpc>
                          <a:spcPct val="115000"/>
                        </a:lnSpc>
                        <a:spcBef>
                          <a:spcPts val="0"/>
                        </a:spcBef>
                        <a:spcAft>
                          <a:spcPts val="0"/>
                        </a:spcAft>
                        <a:buNone/>
                      </a:pPr>
                      <a:r>
                        <a:rPr lang="en-GB" b="1" dirty="0">
                          <a:latin typeface="Times New Roman" panose="02020603050405020304" pitchFamily="18" charset="0"/>
                          <a:ea typeface="Times"/>
                          <a:cs typeface="Times New Roman" panose="02020603050405020304" pitchFamily="18" charset="0"/>
                          <a:sym typeface="Times"/>
                        </a:rPr>
                        <a:t>Missing Problem</a:t>
                      </a:r>
                      <a:endParaRPr b="1" dirty="0">
                        <a:latin typeface="Times New Roman" panose="02020603050405020304" pitchFamily="18" charset="0"/>
                        <a:ea typeface="Times"/>
                        <a:cs typeface="Times New Roman" panose="02020603050405020304" pitchFamily="18" charset="0"/>
                        <a:sym typeface="Times"/>
                      </a:endParaRPr>
                    </a:p>
                  </a:txBody>
                  <a:tcPr marL="91425" marR="91425" marT="91425" marB="91425"/>
                </a:tc>
                <a:extLst>
                  <a:ext uri="{0D108BD9-81ED-4DB2-BD59-A6C34878D82A}">
                    <a16:rowId xmlns:a16="http://schemas.microsoft.com/office/drawing/2014/main" val="10000"/>
                  </a:ext>
                </a:extLst>
              </a:tr>
              <a:tr h="275700">
                <a:tc>
                  <a:txBody>
                    <a:bodyPr/>
                    <a:lstStyle/>
                    <a:p>
                      <a:pPr marL="0" lvl="0" indent="0" algn="l" rtl="0">
                        <a:spcBef>
                          <a:spcPts val="0"/>
                        </a:spcBef>
                        <a:spcAft>
                          <a:spcPts val="0"/>
                        </a:spcAft>
                        <a:buNone/>
                      </a:pPr>
                      <a:r>
                        <a:rPr lang="en-GB" dirty="0">
                          <a:latin typeface="Times New Roman" panose="02020603050405020304" pitchFamily="18" charset="0"/>
                          <a:ea typeface="Times"/>
                          <a:cs typeface="Times New Roman" panose="02020603050405020304" pitchFamily="18" charset="0"/>
                          <a:sym typeface="Times"/>
                        </a:rPr>
                        <a:t>Static alarms</a:t>
                      </a:r>
                      <a:endParaRPr dirty="0">
                        <a:latin typeface="Times New Roman" panose="02020603050405020304" pitchFamily="18" charset="0"/>
                        <a:ea typeface="Times"/>
                        <a:cs typeface="Times New Roman" panose="02020603050405020304" pitchFamily="18" charset="0"/>
                        <a:sym typeface="Times"/>
                      </a:endParaRPr>
                    </a:p>
                  </a:txBody>
                  <a:tcPr marL="91425" marR="91425" marT="91425" marB="91425"/>
                </a:tc>
                <a:tc>
                  <a:txBody>
                    <a:bodyPr/>
                    <a:lstStyle/>
                    <a:p>
                      <a:pPr marL="0" lvl="0" indent="0" algn="l" rtl="0">
                        <a:spcBef>
                          <a:spcPts val="0"/>
                        </a:spcBef>
                        <a:spcAft>
                          <a:spcPts val="0"/>
                        </a:spcAft>
                        <a:buNone/>
                      </a:pPr>
                      <a:r>
                        <a:rPr lang="en-GB">
                          <a:latin typeface="Times New Roman" panose="02020603050405020304" pitchFamily="18" charset="0"/>
                          <a:ea typeface="Times"/>
                          <a:cs typeface="Times New Roman" panose="02020603050405020304" pitchFamily="18" charset="0"/>
                          <a:sym typeface="Times"/>
                        </a:rPr>
                        <a:t>No traffic intelligence</a:t>
                      </a:r>
                      <a:endParaRPr>
                        <a:latin typeface="Times New Roman" panose="02020603050405020304" pitchFamily="18" charset="0"/>
                        <a:ea typeface="Times"/>
                        <a:cs typeface="Times New Roman" panose="02020603050405020304" pitchFamily="18" charset="0"/>
                        <a:sym typeface="Times"/>
                      </a:endParaRPr>
                    </a:p>
                  </a:txBody>
                  <a:tcPr marL="91425" marR="91425" marT="91425" marB="91425"/>
                </a:tc>
                <a:extLst>
                  <a:ext uri="{0D108BD9-81ED-4DB2-BD59-A6C34878D82A}">
                    <a16:rowId xmlns:a16="http://schemas.microsoft.com/office/drawing/2014/main" val="10001"/>
                  </a:ext>
                </a:extLst>
              </a:tr>
              <a:tr h="275700">
                <a:tc>
                  <a:txBody>
                    <a:bodyPr/>
                    <a:lstStyle/>
                    <a:p>
                      <a:pPr marL="0" lvl="0" indent="0" algn="l" rtl="0">
                        <a:spcBef>
                          <a:spcPts val="0"/>
                        </a:spcBef>
                        <a:spcAft>
                          <a:spcPts val="0"/>
                        </a:spcAft>
                        <a:buNone/>
                      </a:pPr>
                      <a:r>
                        <a:rPr lang="en-GB">
                          <a:latin typeface="Times New Roman" panose="02020603050405020304" pitchFamily="18" charset="0"/>
                          <a:ea typeface="Times"/>
                          <a:cs typeface="Times New Roman" panose="02020603050405020304" pitchFamily="18" charset="0"/>
                          <a:sym typeface="Times"/>
                        </a:rPr>
                        <a:t>To-do apps</a:t>
                      </a:r>
                      <a:endParaRPr>
                        <a:latin typeface="Times New Roman" panose="02020603050405020304" pitchFamily="18" charset="0"/>
                        <a:ea typeface="Times"/>
                        <a:cs typeface="Times New Roman" panose="02020603050405020304" pitchFamily="18" charset="0"/>
                        <a:sym typeface="Times"/>
                      </a:endParaRPr>
                    </a:p>
                  </a:txBody>
                  <a:tcPr marL="91425" marR="91425" marT="91425" marB="91425"/>
                </a:tc>
                <a:tc>
                  <a:txBody>
                    <a:bodyPr/>
                    <a:lstStyle/>
                    <a:p>
                      <a:pPr marL="0" lvl="0" indent="0" algn="l" rtl="0">
                        <a:spcBef>
                          <a:spcPts val="0"/>
                        </a:spcBef>
                        <a:spcAft>
                          <a:spcPts val="0"/>
                        </a:spcAft>
                        <a:buNone/>
                      </a:pPr>
                      <a:r>
                        <a:rPr lang="en-GB" dirty="0">
                          <a:latin typeface="Times New Roman" panose="02020603050405020304" pitchFamily="18" charset="0"/>
                          <a:ea typeface="Times"/>
                          <a:cs typeface="Times New Roman" panose="02020603050405020304" pitchFamily="18" charset="0"/>
                          <a:sym typeface="Times"/>
                        </a:rPr>
                        <a:t>No AI schedule optimization</a:t>
                      </a:r>
                      <a:endParaRPr dirty="0">
                        <a:latin typeface="Times New Roman" panose="02020603050405020304" pitchFamily="18" charset="0"/>
                        <a:ea typeface="Times"/>
                        <a:cs typeface="Times New Roman" panose="02020603050405020304" pitchFamily="18" charset="0"/>
                        <a:sym typeface="Times"/>
                      </a:endParaRPr>
                    </a:p>
                  </a:txBody>
                  <a:tcPr marL="91425" marR="91425" marT="91425" marB="91425"/>
                </a:tc>
                <a:extLst>
                  <a:ext uri="{0D108BD9-81ED-4DB2-BD59-A6C34878D82A}">
                    <a16:rowId xmlns:a16="http://schemas.microsoft.com/office/drawing/2014/main" val="10002"/>
                  </a:ext>
                </a:extLst>
              </a:tr>
              <a:tr h="275700">
                <a:tc>
                  <a:txBody>
                    <a:bodyPr/>
                    <a:lstStyle/>
                    <a:p>
                      <a:pPr marL="0" lvl="0" indent="0" algn="l" rtl="0">
                        <a:spcBef>
                          <a:spcPts val="0"/>
                        </a:spcBef>
                        <a:spcAft>
                          <a:spcPts val="0"/>
                        </a:spcAft>
                        <a:buNone/>
                      </a:pPr>
                      <a:r>
                        <a:rPr lang="en-GB">
                          <a:latin typeface="Times New Roman" panose="02020603050405020304" pitchFamily="18" charset="0"/>
                          <a:ea typeface="Times"/>
                          <a:cs typeface="Times New Roman" panose="02020603050405020304" pitchFamily="18" charset="0"/>
                          <a:sym typeface="Times"/>
                        </a:rPr>
                        <a:t>Screen trackers</a:t>
                      </a:r>
                      <a:endParaRPr>
                        <a:latin typeface="Times New Roman" panose="02020603050405020304" pitchFamily="18" charset="0"/>
                        <a:ea typeface="Times"/>
                        <a:cs typeface="Times New Roman" panose="02020603050405020304" pitchFamily="18" charset="0"/>
                        <a:sym typeface="Times"/>
                      </a:endParaRPr>
                    </a:p>
                  </a:txBody>
                  <a:tcPr marL="91425" marR="91425" marT="91425" marB="91425"/>
                </a:tc>
                <a:tc>
                  <a:txBody>
                    <a:bodyPr/>
                    <a:lstStyle/>
                    <a:p>
                      <a:pPr marL="0" lvl="0" indent="0" algn="l" rtl="0">
                        <a:spcBef>
                          <a:spcPts val="0"/>
                        </a:spcBef>
                        <a:spcAft>
                          <a:spcPts val="0"/>
                        </a:spcAft>
                        <a:buNone/>
                      </a:pPr>
                      <a:r>
                        <a:rPr lang="en-GB" dirty="0">
                          <a:latin typeface="Times New Roman" panose="02020603050405020304" pitchFamily="18" charset="0"/>
                          <a:ea typeface="Times"/>
                          <a:cs typeface="Times New Roman" panose="02020603050405020304" pitchFamily="18" charset="0"/>
                          <a:sym typeface="Times"/>
                        </a:rPr>
                        <a:t>No </a:t>
                      </a:r>
                      <a:r>
                        <a:rPr lang="en-GB" dirty="0" err="1">
                          <a:latin typeface="Times New Roman" panose="02020603050405020304" pitchFamily="18" charset="0"/>
                          <a:ea typeface="Times"/>
                          <a:cs typeface="Times New Roman" panose="02020603050405020304" pitchFamily="18" charset="0"/>
                          <a:sym typeface="Times"/>
                        </a:rPr>
                        <a:t>behavioral</a:t>
                      </a:r>
                      <a:r>
                        <a:rPr lang="en-GB" dirty="0">
                          <a:latin typeface="Times New Roman" panose="02020603050405020304" pitchFamily="18" charset="0"/>
                          <a:ea typeface="Times"/>
                          <a:cs typeface="Times New Roman" panose="02020603050405020304" pitchFamily="18" charset="0"/>
                          <a:sym typeface="Times"/>
                        </a:rPr>
                        <a:t> coaching</a:t>
                      </a:r>
                      <a:endParaRPr dirty="0">
                        <a:latin typeface="Times New Roman" panose="02020603050405020304" pitchFamily="18" charset="0"/>
                        <a:ea typeface="Times"/>
                        <a:cs typeface="Times New Roman" panose="02020603050405020304" pitchFamily="18" charset="0"/>
                        <a:sym typeface="Times"/>
                      </a:endParaRPr>
                    </a:p>
                  </a:txBody>
                  <a:tcPr marL="91425" marR="91425" marT="91425" marB="91425"/>
                </a:tc>
                <a:extLst>
                  <a:ext uri="{0D108BD9-81ED-4DB2-BD59-A6C34878D82A}">
                    <a16:rowId xmlns:a16="http://schemas.microsoft.com/office/drawing/2014/main" val="10003"/>
                  </a:ext>
                </a:extLst>
              </a:tr>
              <a:tr h="275700">
                <a:tc>
                  <a:txBody>
                    <a:bodyPr/>
                    <a:lstStyle/>
                    <a:p>
                      <a:pPr marL="0" lvl="0" indent="0" algn="l" rtl="0">
                        <a:spcBef>
                          <a:spcPts val="0"/>
                        </a:spcBef>
                        <a:spcAft>
                          <a:spcPts val="0"/>
                        </a:spcAft>
                        <a:buNone/>
                      </a:pPr>
                      <a:r>
                        <a:rPr lang="en-GB">
                          <a:latin typeface="Times New Roman" panose="02020603050405020304" pitchFamily="18" charset="0"/>
                          <a:ea typeface="Times"/>
                          <a:cs typeface="Times New Roman" panose="02020603050405020304" pitchFamily="18" charset="0"/>
                          <a:sym typeface="Times"/>
                        </a:rPr>
                        <a:t>Calendars</a:t>
                      </a:r>
                      <a:endParaRPr>
                        <a:latin typeface="Times New Roman" panose="02020603050405020304" pitchFamily="18" charset="0"/>
                        <a:ea typeface="Times"/>
                        <a:cs typeface="Times New Roman" panose="02020603050405020304" pitchFamily="18" charset="0"/>
                        <a:sym typeface="Times"/>
                      </a:endParaRPr>
                    </a:p>
                  </a:txBody>
                  <a:tcPr marL="91425" marR="91425" marT="91425" marB="91425"/>
                </a:tc>
                <a:tc>
                  <a:txBody>
                    <a:bodyPr/>
                    <a:lstStyle/>
                    <a:p>
                      <a:pPr marL="0" lvl="0" indent="0" algn="l" rtl="0">
                        <a:spcBef>
                          <a:spcPts val="0"/>
                        </a:spcBef>
                        <a:spcAft>
                          <a:spcPts val="0"/>
                        </a:spcAft>
                        <a:buNone/>
                      </a:pPr>
                      <a:r>
                        <a:rPr lang="en-GB" dirty="0">
                          <a:latin typeface="Times New Roman" panose="02020603050405020304" pitchFamily="18" charset="0"/>
                          <a:ea typeface="Times"/>
                          <a:cs typeface="Times New Roman" panose="02020603050405020304" pitchFamily="18" charset="0"/>
                          <a:sym typeface="Times"/>
                        </a:rPr>
                        <a:t>No emotional productivity awareness</a:t>
                      </a:r>
                      <a:endParaRPr dirty="0">
                        <a:latin typeface="Times New Roman" panose="02020603050405020304" pitchFamily="18" charset="0"/>
                        <a:ea typeface="Times"/>
                        <a:cs typeface="Times New Roman" panose="02020603050405020304" pitchFamily="18" charset="0"/>
                        <a:sym typeface="Times"/>
                      </a:endParaRPr>
                    </a:p>
                  </a:txBody>
                  <a:tcPr marL="91425" marR="91425" marT="91425" marB="91425"/>
                </a:tc>
                <a:extLst>
                  <a:ext uri="{0D108BD9-81ED-4DB2-BD59-A6C34878D82A}">
                    <a16:rowId xmlns:a16="http://schemas.microsoft.com/office/drawing/2014/main" val="10004"/>
                  </a:ext>
                </a:extLst>
              </a:tr>
              <a:tr h="275700">
                <a:tc>
                  <a:txBody>
                    <a:bodyPr/>
                    <a:lstStyle/>
                    <a:p>
                      <a:pPr marL="0" lvl="0" indent="0" algn="l" rtl="0">
                        <a:spcBef>
                          <a:spcPts val="0"/>
                        </a:spcBef>
                        <a:spcAft>
                          <a:spcPts val="0"/>
                        </a:spcAft>
                        <a:buNone/>
                      </a:pPr>
                      <a:r>
                        <a:rPr lang="en-GB">
                          <a:latin typeface="Times New Roman" panose="02020603050405020304" pitchFamily="18" charset="0"/>
                          <a:ea typeface="Times"/>
                          <a:cs typeface="Times New Roman" panose="02020603050405020304" pitchFamily="18" charset="0"/>
                          <a:sym typeface="Times"/>
                        </a:rPr>
                        <a:t>AI chatbots</a:t>
                      </a:r>
                      <a:endParaRPr>
                        <a:latin typeface="Times New Roman" panose="02020603050405020304" pitchFamily="18" charset="0"/>
                        <a:ea typeface="Times"/>
                        <a:cs typeface="Times New Roman" panose="02020603050405020304" pitchFamily="18" charset="0"/>
                        <a:sym typeface="Times"/>
                      </a:endParaRPr>
                    </a:p>
                  </a:txBody>
                  <a:tcPr marL="91425" marR="91425" marT="91425" marB="91425"/>
                </a:tc>
                <a:tc>
                  <a:txBody>
                    <a:bodyPr/>
                    <a:lstStyle/>
                    <a:p>
                      <a:pPr marL="0" lvl="0" indent="0" algn="l" rtl="0">
                        <a:spcBef>
                          <a:spcPts val="0"/>
                        </a:spcBef>
                        <a:spcAft>
                          <a:spcPts val="0"/>
                        </a:spcAft>
                        <a:buNone/>
                      </a:pPr>
                      <a:r>
                        <a:rPr lang="en-GB" dirty="0">
                          <a:latin typeface="Times New Roman" panose="02020603050405020304" pitchFamily="18" charset="0"/>
                          <a:ea typeface="Times"/>
                          <a:cs typeface="Times New Roman" panose="02020603050405020304" pitchFamily="18" charset="0"/>
                          <a:sym typeface="Times"/>
                        </a:rPr>
                        <a:t>No real daily-life integration</a:t>
                      </a:r>
                      <a:endParaRPr dirty="0">
                        <a:latin typeface="Times New Roman" panose="02020603050405020304" pitchFamily="18" charset="0"/>
                        <a:ea typeface="Times"/>
                        <a:cs typeface="Times New Roman" panose="02020603050405020304" pitchFamily="18" charset="0"/>
                        <a:sym typeface="Times"/>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9"/>
          <p:cNvSpPr/>
          <p:nvPr/>
        </p:nvSpPr>
        <p:spPr>
          <a:xfrm>
            <a:off x="0" y="0"/>
            <a:ext cx="9144000" cy="59662"/>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latin typeface="Times New Roman" panose="02020603050405020304" pitchFamily="18" charset="0"/>
              <a:cs typeface="Times New Roman" panose="02020603050405020304" pitchFamily="18" charset="0"/>
            </a:endParaRPr>
          </a:p>
        </p:txBody>
      </p:sp>
      <p:sp>
        <p:nvSpPr>
          <p:cNvPr id="170" name="Google Shape;170;p29"/>
          <p:cNvSpPr/>
          <p:nvPr/>
        </p:nvSpPr>
        <p:spPr>
          <a:xfrm>
            <a:off x="457200" y="164592"/>
            <a:ext cx="1463040" cy="23864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a:solidFill>
                  <a:schemeClr val="lt1"/>
                </a:solidFill>
                <a:latin typeface="Times New Roman" panose="02020603050405020304" pitchFamily="18" charset="0"/>
                <a:ea typeface="Calibri"/>
                <a:cs typeface="Times New Roman" panose="02020603050405020304" pitchFamily="18" charset="0"/>
                <a:sym typeface="Calibri"/>
              </a:rPr>
              <a:t>Idea</a:t>
            </a:r>
            <a:endParaRPr sz="800">
              <a:solidFill>
                <a:schemeClr val="lt1"/>
              </a:solidFill>
              <a:latin typeface="Times New Roman" panose="02020603050405020304" pitchFamily="18" charset="0"/>
              <a:ea typeface="Calibri"/>
              <a:cs typeface="Times New Roman" panose="02020603050405020304" pitchFamily="18" charset="0"/>
              <a:sym typeface="Calibri"/>
            </a:endParaRPr>
          </a:p>
        </p:txBody>
      </p:sp>
      <p:sp>
        <p:nvSpPr>
          <p:cNvPr id="171" name="Google Shape;171;p29"/>
          <p:cNvSpPr/>
          <p:nvPr/>
        </p:nvSpPr>
        <p:spPr>
          <a:xfrm>
            <a:off x="457200" y="33101"/>
            <a:ext cx="8229600" cy="596731"/>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Times New Roman" panose="02020603050405020304" pitchFamily="18" charset="0"/>
                <a:ea typeface="Calibri"/>
                <a:cs typeface="Times New Roman" panose="02020603050405020304" pitchFamily="18" charset="0"/>
                <a:sym typeface="Calibri"/>
              </a:rPr>
              <a:t>Your Solutions</a:t>
            </a:r>
            <a:endParaRPr sz="3200"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72" name="Google Shape;172;p29"/>
          <p:cNvSpPr txBox="1"/>
          <p:nvPr/>
        </p:nvSpPr>
        <p:spPr>
          <a:xfrm>
            <a:off x="457200" y="629832"/>
            <a:ext cx="8131500" cy="398978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200" dirty="0">
                <a:solidFill>
                  <a:schemeClr val="dk1"/>
                </a:solidFill>
                <a:latin typeface="Times New Roman" panose="02020603050405020304" pitchFamily="18" charset="0"/>
                <a:cs typeface="Times New Roman" panose="02020603050405020304" pitchFamily="18" charset="0"/>
              </a:rPr>
              <a:t>We developed an </a:t>
            </a:r>
            <a:r>
              <a:rPr lang="en-GB" sz="1200" b="1" dirty="0">
                <a:solidFill>
                  <a:schemeClr val="dk1"/>
                </a:solidFill>
                <a:latin typeface="Times New Roman" panose="02020603050405020304" pitchFamily="18" charset="0"/>
                <a:cs typeface="Times New Roman" panose="02020603050405020304" pitchFamily="18" charset="0"/>
              </a:rPr>
              <a:t>AI-powered Adaptive Productivity Ecosystem</a:t>
            </a:r>
            <a:r>
              <a:rPr lang="en-GB" sz="1200" dirty="0">
                <a:solidFill>
                  <a:schemeClr val="dk1"/>
                </a:solidFill>
                <a:latin typeface="Times New Roman" panose="02020603050405020304" pitchFamily="18" charset="0"/>
                <a:cs typeface="Times New Roman" panose="02020603050405020304" pitchFamily="18" charset="0"/>
              </a:rPr>
              <a:t> that combines smart alarms, live navigation, intelligent scheduling, predictive productivity analysis, and an OpenClaw AI Assistant into one unified platform. </a:t>
            </a:r>
            <a:endParaRPr sz="1200" dirty="0">
              <a:latin typeface="Times New Roman" panose="02020603050405020304" pitchFamily="18" charset="0"/>
              <a:cs typeface="Times New Roman" panose="02020603050405020304" pitchFamily="18" charset="0"/>
            </a:endParaRPr>
          </a:p>
          <a:p>
            <a:pPr marL="0" lvl="0" indent="0" algn="l" rtl="0">
              <a:lnSpc>
                <a:spcPct val="115000"/>
              </a:lnSpc>
              <a:spcBef>
                <a:spcPts val="1800"/>
              </a:spcBef>
              <a:spcAft>
                <a:spcPts val="0"/>
              </a:spcAft>
              <a:buClr>
                <a:schemeClr val="dk1"/>
              </a:buClr>
              <a:buSzPts val="1100"/>
              <a:buFont typeface="Arial"/>
              <a:buNone/>
            </a:pPr>
            <a:r>
              <a:rPr lang="en-GB" sz="1200" b="1" dirty="0" err="1">
                <a:solidFill>
                  <a:schemeClr val="dk1"/>
                </a:solidFill>
                <a:latin typeface="Times New Roman" panose="02020603050405020304" pitchFamily="18" charset="0"/>
                <a:cs typeface="Times New Roman" panose="02020603050405020304" pitchFamily="18" charset="0"/>
              </a:rPr>
              <a:t>Chronova</a:t>
            </a:r>
            <a:endParaRPr sz="1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sz="1200" dirty="0">
                <a:solidFill>
                  <a:schemeClr val="dk1"/>
                </a:solidFill>
                <a:latin typeface="Times New Roman" panose="02020603050405020304" pitchFamily="18" charset="0"/>
                <a:cs typeface="Times New Roman" panose="02020603050405020304" pitchFamily="18" charset="0"/>
              </a:rPr>
              <a:t>An AI-powered personal time intelligence ecosystem.</a:t>
            </a:r>
            <a:endParaRPr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sz="1200" b="1" dirty="0">
                <a:solidFill>
                  <a:schemeClr val="dk1"/>
                </a:solidFill>
                <a:latin typeface="Times New Roman" panose="02020603050405020304" pitchFamily="18" charset="0"/>
                <a:cs typeface="Times New Roman" panose="02020603050405020304" pitchFamily="18" charset="0"/>
              </a:rPr>
              <a:t>Core Features</a:t>
            </a:r>
            <a:endParaRPr sz="1200"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sz="1200" b="1" dirty="0">
                <a:solidFill>
                  <a:schemeClr val="dk1"/>
                </a:solidFill>
                <a:latin typeface="Times New Roman" panose="02020603050405020304" pitchFamily="18" charset="0"/>
                <a:cs typeface="Times New Roman" panose="02020603050405020304" pitchFamily="18" charset="0"/>
              </a:rPr>
              <a:t>🚦 Smart Alarm AI</a:t>
            </a:r>
            <a:endParaRPr sz="1200"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Adjusts wake-up time using traffic data</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Suggests transport mode</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Predicts delays automatically</a:t>
            </a:r>
            <a:endParaRPr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sz="1200" b="1" dirty="0">
                <a:solidFill>
                  <a:schemeClr val="dk1"/>
                </a:solidFill>
                <a:latin typeface="Times New Roman" panose="02020603050405020304" pitchFamily="18" charset="0"/>
                <a:cs typeface="Times New Roman" panose="02020603050405020304" pitchFamily="18" charset="0"/>
              </a:rPr>
              <a:t>🧠 Focus Intelligence</a:t>
            </a:r>
            <a:endParaRPr sz="1200"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Reads Android usage stats in real time</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Detects distraction patterns</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Generates focus recommendations</a:t>
            </a:r>
            <a:endParaRPr sz="1200" dirty="0">
              <a:solidFill>
                <a:schemeClr val="dk1"/>
              </a:solidFill>
              <a:latin typeface="Times New Roman" panose="02020603050405020304" pitchFamily="18" charset="0"/>
              <a:cs typeface="Times New Roman" panose="02020603050405020304" pitchFamily="18" charset="0"/>
            </a:endParaRPr>
          </a:p>
        </p:txBody>
      </p:sp>
      <p:sp>
        <p:nvSpPr>
          <p:cNvPr id="173" name="Google Shape;173;p29"/>
          <p:cNvSpPr txBox="1"/>
          <p:nvPr/>
        </p:nvSpPr>
        <p:spPr>
          <a:xfrm>
            <a:off x="4813626" y="991890"/>
            <a:ext cx="4038900" cy="417649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GB" sz="1200" b="1" dirty="0">
                <a:solidFill>
                  <a:schemeClr val="dk1"/>
                </a:solidFill>
                <a:latin typeface="Times New Roman" panose="02020603050405020304" pitchFamily="18" charset="0"/>
                <a:cs typeface="Times New Roman" panose="02020603050405020304" pitchFamily="18" charset="0"/>
              </a:rPr>
              <a:t>📅 AI/manual Schedule Planner</a:t>
            </a:r>
            <a:endParaRPr sz="1200"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Auto-generates optimized schedules</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Creates balanced routines</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Suggests productive time blocks</a:t>
            </a:r>
            <a:endParaRPr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None/>
            </a:pPr>
            <a:r>
              <a:rPr lang="en-GB" sz="1200" b="1" dirty="0">
                <a:solidFill>
                  <a:schemeClr val="dk1"/>
                </a:solidFill>
                <a:latin typeface="Times New Roman" panose="02020603050405020304" pitchFamily="18" charset="0"/>
                <a:cs typeface="Times New Roman" panose="02020603050405020304" pitchFamily="18" charset="0"/>
              </a:rPr>
              <a:t>⚡ Regret Forecast</a:t>
            </a:r>
            <a:endParaRPr sz="1200"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Predicts impact of distraction before it happens</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Emotional </a:t>
            </a:r>
            <a:r>
              <a:rPr lang="en-GB" sz="1200" dirty="0" err="1">
                <a:solidFill>
                  <a:schemeClr val="dk1"/>
                </a:solidFill>
                <a:latin typeface="Times New Roman" panose="02020603050405020304" pitchFamily="18" charset="0"/>
                <a:cs typeface="Times New Roman" panose="02020603050405020304" pitchFamily="18" charset="0"/>
              </a:rPr>
              <a:t>behavioral</a:t>
            </a:r>
            <a:r>
              <a:rPr lang="en-GB" sz="1200" dirty="0">
                <a:solidFill>
                  <a:schemeClr val="dk1"/>
                </a:solidFill>
                <a:latin typeface="Times New Roman" panose="02020603050405020304" pitchFamily="18" charset="0"/>
                <a:cs typeface="Times New Roman" panose="02020603050405020304" pitchFamily="18" charset="0"/>
              </a:rPr>
              <a:t> nudges</a:t>
            </a:r>
            <a:endParaRPr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None/>
            </a:pPr>
            <a:r>
              <a:rPr lang="en-GB" sz="1200" b="1" dirty="0">
                <a:solidFill>
                  <a:schemeClr val="dk1"/>
                </a:solidFill>
                <a:latin typeface="Times New Roman" panose="02020603050405020304" pitchFamily="18" charset="0"/>
                <a:cs typeface="Times New Roman" panose="02020603050405020304" pitchFamily="18" charset="0"/>
              </a:rPr>
              <a:t>🤖 OpenClaw AI Assistant</a:t>
            </a:r>
            <a:endParaRPr sz="1200"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AI assistant for schedules, tasks, alarms, meetings</a:t>
            </a:r>
            <a:endParaRPr sz="1200"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None/>
            </a:pPr>
            <a:r>
              <a:rPr lang="en-GB" sz="1200" b="1" dirty="0">
                <a:solidFill>
                  <a:schemeClr val="dk1"/>
                </a:solidFill>
                <a:latin typeface="Times New Roman" panose="02020603050405020304" pitchFamily="18" charset="0"/>
                <a:cs typeface="Times New Roman" panose="02020603050405020304" pitchFamily="18" charset="0"/>
              </a:rPr>
              <a:t>📊 Daily Intelligence Reports</a:t>
            </a:r>
            <a:endParaRPr sz="1200"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Productivity score</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Focus analytics</a:t>
            </a:r>
            <a:endParaRPr sz="1200"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sz="1200" dirty="0">
                <a:solidFill>
                  <a:schemeClr val="dk1"/>
                </a:solidFill>
                <a:latin typeface="Times New Roman" panose="02020603050405020304" pitchFamily="18" charset="0"/>
                <a:cs typeface="Times New Roman" panose="02020603050405020304" pitchFamily="18" charset="0"/>
              </a:rPr>
              <a:t>AI-generated improvement suggestions</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0"/>
          <p:cNvSpPr/>
          <p:nvPr/>
        </p:nvSpPr>
        <p:spPr>
          <a:xfrm>
            <a:off x="0" y="0"/>
            <a:ext cx="9144000" cy="64008"/>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81" name="Google Shape;181;p30"/>
          <p:cNvSpPr/>
          <p:nvPr/>
        </p:nvSpPr>
        <p:spPr>
          <a:xfrm>
            <a:off x="457200" y="164592"/>
            <a:ext cx="14630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a:solidFill>
                  <a:schemeClr val="lt1"/>
                </a:solidFill>
                <a:latin typeface="Calibri"/>
                <a:ea typeface="Calibri"/>
                <a:cs typeface="Calibri"/>
                <a:sym typeface="Calibri"/>
              </a:rPr>
              <a:t>Idea</a:t>
            </a:r>
            <a:endParaRPr sz="800">
              <a:solidFill>
                <a:schemeClr val="lt1"/>
              </a:solidFill>
              <a:latin typeface="Calibri"/>
              <a:ea typeface="Calibri"/>
              <a:cs typeface="Calibri"/>
              <a:sym typeface="Calibri"/>
            </a:endParaRPr>
          </a:p>
        </p:txBody>
      </p:sp>
      <p:sp>
        <p:nvSpPr>
          <p:cNvPr id="182" name="Google Shape;182;p30"/>
          <p:cNvSpPr/>
          <p:nvPr/>
        </p:nvSpPr>
        <p:spPr>
          <a:xfrm>
            <a:off x="457200" y="384048"/>
            <a:ext cx="8229600" cy="5425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Demo/Product Walkthrough</a:t>
            </a:r>
            <a:endParaRPr sz="3200" dirty="0">
              <a:solidFill>
                <a:schemeClr val="dk1"/>
              </a:solidFill>
              <a:latin typeface="Calibri"/>
              <a:ea typeface="Calibri"/>
              <a:cs typeface="Calibri"/>
              <a:sym typeface="Calibri"/>
            </a:endParaRPr>
          </a:p>
        </p:txBody>
      </p:sp>
      <p:sp>
        <p:nvSpPr>
          <p:cNvPr id="183" name="Google Shape;183;p30"/>
          <p:cNvSpPr/>
          <p:nvPr/>
        </p:nvSpPr>
        <p:spPr>
          <a:xfrm>
            <a:off x="4572000" y="1084398"/>
            <a:ext cx="3840600" cy="2251800"/>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5. OpenClaw assistant guides user</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 “What should I do next?”</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6. End-of-day report generated</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 Productivity score + suggestions</a:t>
            </a:r>
            <a:endParaRPr dirty="0">
              <a:solidFill>
                <a:schemeClr val="dk1"/>
              </a:solidFill>
              <a:latin typeface="Times New Roman" panose="02020603050405020304" pitchFamily="18" charset="0"/>
              <a:cs typeface="Times New Roman" panose="02020603050405020304" pitchFamily="18" charset="0"/>
            </a:endParaRPr>
          </a:p>
        </p:txBody>
      </p:sp>
      <p:sp>
        <p:nvSpPr>
          <p:cNvPr id="184" name="Google Shape;184;p30"/>
          <p:cNvSpPr txBox="1"/>
          <p:nvPr/>
        </p:nvSpPr>
        <p:spPr>
          <a:xfrm>
            <a:off x="457200" y="926592"/>
            <a:ext cx="4177800" cy="3863591"/>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18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User Flow</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1. User adds tasks</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100"/>
              <a:buNone/>
            </a:pPr>
            <a:r>
              <a:rPr lang="en-GB" dirty="0">
                <a:solidFill>
                  <a:schemeClr val="dk1"/>
                </a:solidFill>
                <a:latin typeface="Times New Roman" panose="02020603050405020304" pitchFamily="18" charset="0"/>
                <a:cs typeface="Times New Roman" panose="02020603050405020304" pitchFamily="18" charset="0"/>
              </a:rPr>
              <a:t>→ AI </a:t>
            </a:r>
            <a:r>
              <a:rPr lang="en-GB" dirty="0" err="1">
                <a:solidFill>
                  <a:schemeClr val="dk1"/>
                </a:solidFill>
                <a:latin typeface="Times New Roman" panose="02020603050405020304" pitchFamily="18" charset="0"/>
                <a:cs typeface="Times New Roman" panose="02020603050405020304" pitchFamily="18" charset="0"/>
              </a:rPr>
              <a:t>analyzes</a:t>
            </a:r>
            <a:r>
              <a:rPr lang="en-GB" dirty="0">
                <a:solidFill>
                  <a:schemeClr val="dk1"/>
                </a:solidFill>
                <a:latin typeface="Times New Roman" panose="02020603050405020304" pitchFamily="18" charset="0"/>
                <a:cs typeface="Times New Roman" panose="02020603050405020304" pitchFamily="18" charset="0"/>
              </a:rPr>
              <a:t> schedule</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2. Traffic detected</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100"/>
              <a:buNone/>
            </a:pPr>
            <a:r>
              <a:rPr lang="en-GB" dirty="0">
                <a:solidFill>
                  <a:schemeClr val="dk1"/>
                </a:solidFill>
                <a:latin typeface="Times New Roman" panose="02020603050405020304" pitchFamily="18" charset="0"/>
                <a:cs typeface="Times New Roman" panose="02020603050405020304" pitchFamily="18" charset="0"/>
              </a:rPr>
              <a:t>→ Alarm automatically shifted earlier</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3. Usage stats tracked</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100"/>
              <a:buNone/>
            </a:pPr>
            <a:r>
              <a:rPr lang="en-GB" dirty="0">
                <a:solidFill>
                  <a:schemeClr val="dk1"/>
                </a:solidFill>
                <a:latin typeface="Times New Roman" panose="02020603050405020304" pitchFamily="18" charset="0"/>
                <a:cs typeface="Times New Roman" panose="02020603050405020304" pitchFamily="18" charset="0"/>
              </a:rPr>
              <a:t>→ App identifies distraction patterns</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4. App generates optimized daily plan</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100"/>
              <a:buNone/>
            </a:pPr>
            <a:r>
              <a:rPr lang="en-GB" dirty="0">
                <a:solidFill>
                  <a:schemeClr val="dk1"/>
                </a:solidFill>
                <a:latin typeface="Times New Roman" panose="02020603050405020304" pitchFamily="18" charset="0"/>
                <a:cs typeface="Times New Roman" panose="02020603050405020304" pitchFamily="18" charset="0"/>
              </a:rPr>
              <a:t>→ Personalized productivity schedule created</a:t>
            </a:r>
            <a:endParaRPr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p:nvPr/>
        </p:nvSpPr>
        <p:spPr>
          <a:xfrm>
            <a:off x="0" y="0"/>
            <a:ext cx="9144000" cy="63900"/>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193" name="Google Shape;193;p31"/>
          <p:cNvSpPr/>
          <p:nvPr/>
        </p:nvSpPr>
        <p:spPr>
          <a:xfrm>
            <a:off x="457200" y="164592"/>
            <a:ext cx="1463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a:solidFill>
                  <a:schemeClr val="lt1"/>
                </a:solidFill>
                <a:latin typeface="Calibri"/>
                <a:ea typeface="Calibri"/>
                <a:cs typeface="Calibri"/>
                <a:sym typeface="Calibri"/>
              </a:rPr>
              <a:t>Idea</a:t>
            </a:r>
            <a:endParaRPr sz="800">
              <a:solidFill>
                <a:schemeClr val="lt1"/>
              </a:solidFill>
              <a:latin typeface="Calibri"/>
              <a:ea typeface="Calibri"/>
              <a:cs typeface="Calibri"/>
              <a:sym typeface="Calibri"/>
            </a:endParaRPr>
          </a:p>
        </p:txBody>
      </p:sp>
      <p:sp>
        <p:nvSpPr>
          <p:cNvPr id="194" name="Google Shape;194;p31"/>
          <p:cNvSpPr/>
          <p:nvPr/>
        </p:nvSpPr>
        <p:spPr>
          <a:xfrm>
            <a:off x="457200" y="341053"/>
            <a:ext cx="8229600" cy="458647"/>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Tech &amp; Architecture</a:t>
            </a:r>
            <a:endParaRPr sz="3200" dirty="0">
              <a:solidFill>
                <a:schemeClr val="dk1"/>
              </a:solidFill>
              <a:latin typeface="Calibri"/>
              <a:ea typeface="Calibri"/>
              <a:cs typeface="Calibri"/>
              <a:sym typeface="Calibri"/>
            </a:endParaRPr>
          </a:p>
        </p:txBody>
      </p:sp>
      <p:sp>
        <p:nvSpPr>
          <p:cNvPr id="195" name="Google Shape;195;p31"/>
          <p:cNvSpPr/>
          <p:nvPr/>
        </p:nvSpPr>
        <p:spPr>
          <a:xfrm>
            <a:off x="4983300" y="799700"/>
            <a:ext cx="3840600" cy="3035075"/>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18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System Flow</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120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User Input</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AI Scheduler Engine</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Traffic + Usage Analysis</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Productivity Intelligence Layer</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Smart Recommendations &amp; Alarm Updates</a:t>
            </a:r>
            <a:endParaRPr dirty="0">
              <a:solidFill>
                <a:schemeClr val="dk1"/>
              </a:solidFill>
              <a:latin typeface="Times New Roman" panose="02020603050405020304" pitchFamily="18" charset="0"/>
              <a:cs typeface="Times New Roman" panose="02020603050405020304" pitchFamily="18" charset="0"/>
            </a:endParaRPr>
          </a:p>
        </p:txBody>
      </p:sp>
      <p:sp>
        <p:nvSpPr>
          <p:cNvPr id="196" name="Google Shape;196;p31"/>
          <p:cNvSpPr txBox="1"/>
          <p:nvPr/>
        </p:nvSpPr>
        <p:spPr>
          <a:xfrm>
            <a:off x="457200" y="799700"/>
            <a:ext cx="4526100" cy="4376039"/>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Frontend</a:t>
            </a:r>
            <a:endParaRPr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Flutter</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Backend</a:t>
            </a:r>
            <a:endParaRPr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Firebase</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Provider State Management</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AI/Intelligence</a:t>
            </a:r>
            <a:endParaRPr lang="en-IN"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IN" dirty="0">
                <a:solidFill>
                  <a:schemeClr val="dk1"/>
                </a:solidFill>
                <a:latin typeface="Times New Roman" panose="02020603050405020304" pitchFamily="18" charset="0"/>
                <a:cs typeface="Times New Roman" panose="02020603050405020304" pitchFamily="18" charset="0"/>
              </a:rPr>
              <a:t>Android </a:t>
            </a:r>
            <a:r>
              <a:rPr lang="en-IN" dirty="0" err="1">
                <a:solidFill>
                  <a:schemeClr val="dk1"/>
                </a:solidFill>
                <a:latin typeface="Times New Roman" panose="02020603050405020304" pitchFamily="18" charset="0"/>
                <a:cs typeface="Times New Roman" panose="02020603050405020304" pitchFamily="18" charset="0"/>
              </a:rPr>
              <a:t>UsageStats</a:t>
            </a:r>
            <a:r>
              <a:rPr lang="en-IN" dirty="0">
                <a:solidFill>
                  <a:schemeClr val="dk1"/>
                </a:solidFill>
                <a:latin typeface="Times New Roman" panose="02020603050405020304" pitchFamily="18" charset="0"/>
                <a:cs typeface="Times New Roman" panose="02020603050405020304" pitchFamily="18" charset="0"/>
              </a:rPr>
              <a:t> API</a:t>
            </a: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Traffic Intelligence Logic</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APIs Used</a:t>
            </a:r>
            <a:endParaRPr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Google Maps Traffic APIs (concept/mock)</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Android Usage Access</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Local notifications</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p:nvPr/>
        </p:nvSpPr>
        <p:spPr>
          <a:xfrm>
            <a:off x="0" y="0"/>
            <a:ext cx="9144000" cy="63900"/>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04" name="Google Shape;204;p32"/>
          <p:cNvSpPr/>
          <p:nvPr/>
        </p:nvSpPr>
        <p:spPr>
          <a:xfrm>
            <a:off x="457200" y="164592"/>
            <a:ext cx="1463100" cy="2559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dirty="0">
                <a:solidFill>
                  <a:schemeClr val="lt1"/>
                </a:solidFill>
                <a:latin typeface="Calibri"/>
                <a:ea typeface="Calibri"/>
                <a:cs typeface="Calibri"/>
                <a:sym typeface="Calibri"/>
              </a:rPr>
              <a:t>Idea</a:t>
            </a:r>
            <a:endParaRPr sz="800" dirty="0">
              <a:solidFill>
                <a:schemeClr val="lt1"/>
              </a:solidFill>
              <a:latin typeface="Calibri"/>
              <a:ea typeface="Calibri"/>
              <a:cs typeface="Calibri"/>
              <a:sym typeface="Calibri"/>
            </a:endParaRPr>
          </a:p>
        </p:txBody>
      </p:sp>
      <p:sp>
        <p:nvSpPr>
          <p:cNvPr id="205" name="Google Shape;205;p32"/>
          <p:cNvSpPr/>
          <p:nvPr/>
        </p:nvSpPr>
        <p:spPr>
          <a:xfrm>
            <a:off x="457200" y="420492"/>
            <a:ext cx="8229600" cy="640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Impact &amp; Use cases</a:t>
            </a:r>
            <a:endParaRPr sz="3200" dirty="0">
              <a:solidFill>
                <a:schemeClr val="dk1"/>
              </a:solidFill>
              <a:latin typeface="Calibri"/>
              <a:ea typeface="Calibri"/>
              <a:cs typeface="Calibri"/>
              <a:sym typeface="Calibri"/>
            </a:endParaRPr>
          </a:p>
        </p:txBody>
      </p:sp>
      <p:sp>
        <p:nvSpPr>
          <p:cNvPr id="206" name="Google Shape;206;p32"/>
          <p:cNvSpPr/>
          <p:nvPr/>
        </p:nvSpPr>
        <p:spPr>
          <a:xfrm>
            <a:off x="4635000" y="1143121"/>
            <a:ext cx="3840600" cy="3488146"/>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18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Potential Impact</a:t>
            </a:r>
            <a:endParaRPr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Better time discipline</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Reduced screen addiction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Improved productivity</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Smarter daily planning</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Personalized AI coaching</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Future Scale Potential</a:t>
            </a:r>
            <a:endParaRPr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AI wearable integration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Smartwatch alarms</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Mental wellness prediction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Enterprise productivity assistant</a:t>
            </a:r>
            <a:endParaRPr dirty="0">
              <a:solidFill>
                <a:schemeClr val="dk1"/>
              </a:solidFill>
              <a:latin typeface="Times New Roman" panose="02020603050405020304" pitchFamily="18" charset="0"/>
              <a:cs typeface="Times New Roman" panose="02020603050405020304" pitchFamily="18" charset="0"/>
            </a:endParaRPr>
          </a:p>
        </p:txBody>
      </p:sp>
      <p:sp>
        <p:nvSpPr>
          <p:cNvPr id="207" name="Google Shape;207;p32"/>
          <p:cNvSpPr txBox="1"/>
          <p:nvPr/>
        </p:nvSpPr>
        <p:spPr>
          <a:xfrm>
            <a:off x="457200" y="1143121"/>
            <a:ext cx="4177800" cy="3863591"/>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18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Real-Life Scenarios</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Student</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AI prevents oversleeping before exams/classes.</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Working Professional</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Optimizes commute and meeting schedules.</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Productivity Users</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Tracks distractions and improves focus habits.</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Daily Commuters</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Traffic-aware alarms reduce lateness.</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3"/>
          <p:cNvSpPr/>
          <p:nvPr/>
        </p:nvSpPr>
        <p:spPr>
          <a:xfrm>
            <a:off x="0" y="0"/>
            <a:ext cx="9144000" cy="64008"/>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15" name="Google Shape;215;p33"/>
          <p:cNvSpPr/>
          <p:nvPr/>
        </p:nvSpPr>
        <p:spPr>
          <a:xfrm>
            <a:off x="457200" y="164592"/>
            <a:ext cx="14630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a:solidFill>
                  <a:schemeClr val="lt1"/>
                </a:solidFill>
                <a:latin typeface="Calibri"/>
                <a:ea typeface="Calibri"/>
                <a:cs typeface="Calibri"/>
                <a:sym typeface="Calibri"/>
              </a:rPr>
              <a:t>Idea</a:t>
            </a:r>
            <a:endParaRPr sz="800">
              <a:solidFill>
                <a:schemeClr val="lt1"/>
              </a:solidFill>
              <a:latin typeface="Calibri"/>
              <a:ea typeface="Calibri"/>
              <a:cs typeface="Calibri"/>
              <a:sym typeface="Calibri"/>
            </a:endParaRPr>
          </a:p>
        </p:txBody>
      </p:sp>
      <p:sp>
        <p:nvSpPr>
          <p:cNvPr id="216" name="Google Shape;216;p33"/>
          <p:cNvSpPr/>
          <p:nvPr/>
        </p:nvSpPr>
        <p:spPr>
          <a:xfrm>
            <a:off x="457200" y="337291"/>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Differentiation</a:t>
            </a:r>
            <a:endParaRPr sz="3200" dirty="0">
              <a:solidFill>
                <a:schemeClr val="dk1"/>
              </a:solidFill>
              <a:latin typeface="Calibri"/>
              <a:ea typeface="Calibri"/>
              <a:cs typeface="Calibri"/>
              <a:sym typeface="Calibri"/>
            </a:endParaRPr>
          </a:p>
        </p:txBody>
      </p:sp>
      <p:sp>
        <p:nvSpPr>
          <p:cNvPr id="217" name="Google Shape;217;p33"/>
          <p:cNvSpPr/>
          <p:nvPr/>
        </p:nvSpPr>
        <p:spPr>
          <a:xfrm>
            <a:off x="4572000" y="1028700"/>
            <a:ext cx="3840600" cy="4114800"/>
          </a:xfrm>
          <a:prstGeom prst="rect">
            <a:avLst/>
          </a:prstGeom>
          <a:noFill/>
          <a:ln>
            <a:noFill/>
          </a:ln>
        </p:spPr>
        <p:txBody>
          <a:bodyPr spcFirstLastPara="1" wrap="square" lIns="68575" tIns="34275" rIns="68575" bIns="34275" anchor="ctr" anchorCtr="0">
            <a:noAutofit/>
          </a:bodyPr>
          <a:lstStyle/>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3. Unified Ecosystem</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Most apps solve ONE problem.</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Chronova combines:</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alarms</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focus</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scheduling</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AI coaching</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traffic prediction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usage intelligence</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into ONE platform.</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4. Personalized AI Layer</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The more users interact, the smarter the recommendations become.</a:t>
            </a:r>
            <a:endParaRPr dirty="0">
              <a:solidFill>
                <a:schemeClr val="dk1"/>
              </a:solidFill>
              <a:latin typeface="Times New Roman" panose="02020603050405020304" pitchFamily="18" charset="0"/>
              <a:cs typeface="Times New Roman" panose="02020603050405020304" pitchFamily="18" charset="0"/>
            </a:endParaRPr>
          </a:p>
        </p:txBody>
      </p:sp>
      <p:sp>
        <p:nvSpPr>
          <p:cNvPr id="218" name="Google Shape;218;p33"/>
          <p:cNvSpPr txBox="1"/>
          <p:nvPr/>
        </p:nvSpPr>
        <p:spPr>
          <a:xfrm>
            <a:off x="457199" y="1028700"/>
            <a:ext cx="3840600" cy="3350631"/>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1800"/>
              </a:spcBef>
              <a:spcAft>
                <a:spcPts val="0"/>
              </a:spcAft>
              <a:buSzPts val="1100"/>
              <a:buNone/>
            </a:pPr>
            <a:r>
              <a:rPr lang="en-GB" b="1" dirty="0">
                <a:solidFill>
                  <a:schemeClr val="dk1"/>
                </a:solidFill>
                <a:latin typeface="Times New Roman" panose="02020603050405020304" pitchFamily="18" charset="0"/>
                <a:cs typeface="Times New Roman" panose="02020603050405020304" pitchFamily="18" charset="0"/>
              </a:rPr>
              <a:t>Why </a:t>
            </a:r>
            <a:r>
              <a:rPr lang="en-GB" b="1" dirty="0" err="1">
                <a:solidFill>
                  <a:schemeClr val="dk1"/>
                </a:solidFill>
                <a:latin typeface="Times New Roman" panose="02020603050405020304" pitchFamily="18" charset="0"/>
                <a:cs typeface="Times New Roman" panose="02020603050405020304" pitchFamily="18" charset="0"/>
              </a:rPr>
              <a:t>Chronova</a:t>
            </a:r>
            <a:r>
              <a:rPr lang="en-GB" b="1" dirty="0">
                <a:solidFill>
                  <a:schemeClr val="dk1"/>
                </a:solidFill>
                <a:latin typeface="Times New Roman" panose="02020603050405020304" pitchFamily="18" charset="0"/>
                <a:cs typeface="Times New Roman" panose="02020603050405020304" pitchFamily="18" charset="0"/>
              </a:rPr>
              <a:t> AI Stands Out</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1. Real-Time AI Time Intelligence</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100"/>
              <a:buNone/>
            </a:pPr>
            <a:r>
              <a:rPr lang="en-GB" dirty="0">
                <a:solidFill>
                  <a:schemeClr val="dk1"/>
                </a:solidFill>
                <a:latin typeface="Times New Roman" panose="02020603050405020304" pitchFamily="18" charset="0"/>
                <a:cs typeface="Times New Roman" panose="02020603050405020304" pitchFamily="18" charset="0"/>
              </a:rPr>
              <a:t>Not just tracking productivity —</a:t>
            </a:r>
            <a:br>
              <a:rPr lang="en-GB" dirty="0">
                <a:solidFill>
                  <a:schemeClr val="dk1"/>
                </a:solidFill>
                <a:latin typeface="Times New Roman" panose="02020603050405020304" pitchFamily="18" charset="0"/>
                <a:cs typeface="Times New Roman" panose="02020603050405020304" pitchFamily="18" charset="0"/>
              </a:rPr>
            </a:br>
            <a:r>
              <a:rPr lang="en-GB" dirty="0">
                <a:solidFill>
                  <a:schemeClr val="dk1"/>
                </a:solidFill>
                <a:latin typeface="Times New Roman" panose="02020603050405020304" pitchFamily="18" charset="0"/>
                <a:cs typeface="Times New Roman" panose="02020603050405020304" pitchFamily="18" charset="0"/>
              </a:rPr>
              <a:t> the AI actively changes schedules and alarms dynamically.</a:t>
            </a: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SzPts val="1100"/>
              <a:buNone/>
            </a:pPr>
            <a:endParaRPr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 2. </a:t>
            </a:r>
            <a:r>
              <a:rPr lang="en-GB" b="1" dirty="0" err="1">
                <a:solidFill>
                  <a:schemeClr val="dk1"/>
                </a:solidFill>
                <a:latin typeface="Times New Roman" panose="02020603050405020304" pitchFamily="18" charset="0"/>
                <a:cs typeface="Times New Roman" panose="02020603050405020304" pitchFamily="18" charset="0"/>
              </a:rPr>
              <a:t>Behavioral</a:t>
            </a:r>
            <a:r>
              <a:rPr lang="en-GB" b="1" dirty="0">
                <a:solidFill>
                  <a:schemeClr val="dk1"/>
                </a:solidFill>
                <a:latin typeface="Times New Roman" panose="02020603050405020304" pitchFamily="18" charset="0"/>
                <a:cs typeface="Times New Roman" panose="02020603050405020304" pitchFamily="18" charset="0"/>
              </a:rPr>
              <a:t> Prediction System</a:t>
            </a:r>
            <a:endParaRPr b="1" dirty="0">
              <a:solidFill>
                <a:schemeClr val="dk1"/>
              </a:solidFill>
              <a:latin typeface="Times New Roman" panose="02020603050405020304" pitchFamily="18" charset="0"/>
              <a:cs typeface="Times New Roman" panose="02020603050405020304" pitchFamily="18" charset="0"/>
            </a:endParaRPr>
          </a:p>
          <a:p>
            <a:pPr marL="0" lvl="0" indent="0" algn="l" rtl="0">
              <a:lnSpc>
                <a:spcPct val="115000"/>
              </a:lnSpc>
              <a:spcBef>
                <a:spcPts val="1200"/>
              </a:spcBef>
              <a:spcAft>
                <a:spcPts val="0"/>
              </a:spcAft>
              <a:buClr>
                <a:schemeClr val="dk1"/>
              </a:buClr>
              <a:buSzPts val="1100"/>
              <a:buFont typeface="Arial"/>
              <a:buNone/>
            </a:pPr>
            <a:r>
              <a:rPr lang="en-GB" dirty="0">
                <a:solidFill>
                  <a:schemeClr val="dk1"/>
                </a:solidFill>
                <a:latin typeface="Times New Roman" panose="02020603050405020304" pitchFamily="18" charset="0"/>
                <a:cs typeface="Times New Roman" panose="02020603050405020304" pitchFamily="18" charset="0"/>
              </a:rPr>
              <a:t>“Regret Forecast” predicts distraction consequences before they happen.</a:t>
            </a:r>
            <a:endParaRPr dirty="0">
              <a:solidFill>
                <a:schemeClr val="dk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p:nvPr/>
        </p:nvSpPr>
        <p:spPr>
          <a:xfrm>
            <a:off x="0" y="0"/>
            <a:ext cx="9144000" cy="64008"/>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26" name="Google Shape;226;p34"/>
          <p:cNvSpPr/>
          <p:nvPr/>
        </p:nvSpPr>
        <p:spPr>
          <a:xfrm>
            <a:off x="457200" y="164592"/>
            <a:ext cx="14630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a:solidFill>
                  <a:schemeClr val="lt1"/>
                </a:solidFill>
                <a:latin typeface="Calibri"/>
                <a:ea typeface="Calibri"/>
                <a:cs typeface="Calibri"/>
                <a:sym typeface="Calibri"/>
              </a:rPr>
              <a:t>Idea</a:t>
            </a:r>
            <a:endParaRPr sz="800">
              <a:solidFill>
                <a:schemeClr val="lt1"/>
              </a:solidFill>
              <a:latin typeface="Calibri"/>
              <a:ea typeface="Calibri"/>
              <a:cs typeface="Calibri"/>
              <a:sym typeface="Calibri"/>
            </a:endParaRPr>
          </a:p>
        </p:txBody>
      </p:sp>
      <p:sp>
        <p:nvSpPr>
          <p:cNvPr id="227" name="Google Shape;227;p34"/>
          <p:cNvSpPr/>
          <p:nvPr/>
        </p:nvSpPr>
        <p:spPr>
          <a:xfrm>
            <a:off x="555372" y="521208"/>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Demo Link</a:t>
            </a:r>
            <a:endParaRPr sz="3200" dirty="0">
              <a:solidFill>
                <a:schemeClr val="dk1"/>
              </a:solidFill>
              <a:latin typeface="Calibri"/>
              <a:ea typeface="Calibri"/>
              <a:cs typeface="Calibri"/>
              <a:sym typeface="Calibri"/>
            </a:endParaRPr>
          </a:p>
        </p:txBody>
      </p:sp>
      <p:sp>
        <p:nvSpPr>
          <p:cNvPr id="228" name="Google Shape;228;p34"/>
          <p:cNvSpPr/>
          <p:nvPr/>
        </p:nvSpPr>
        <p:spPr>
          <a:xfrm>
            <a:off x="4389120" y="1046946"/>
            <a:ext cx="3840480" cy="4114800"/>
          </a:xfrm>
          <a:prstGeom prst="rect">
            <a:avLst/>
          </a:prstGeom>
          <a:no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20000">
              <a:solidFill>
                <a:schemeClr val="dk1"/>
              </a:solidFill>
              <a:latin typeface="Calibri"/>
              <a:ea typeface="Calibri"/>
              <a:cs typeface="Calibri"/>
              <a:sym typeface="Calibri"/>
            </a:endParaRPr>
          </a:p>
        </p:txBody>
      </p:sp>
      <p:sp>
        <p:nvSpPr>
          <p:cNvPr id="229" name="Google Shape;229;p34"/>
          <p:cNvSpPr txBox="1"/>
          <p:nvPr/>
        </p:nvSpPr>
        <p:spPr>
          <a:xfrm>
            <a:off x="555372" y="1262209"/>
            <a:ext cx="8229600" cy="500107"/>
          </a:xfrm>
          <a:prstGeom prst="rect">
            <a:avLst/>
          </a:prstGeom>
          <a:noFill/>
          <a:ln>
            <a:noFill/>
          </a:ln>
        </p:spPr>
        <p:txBody>
          <a:bodyPr spcFirstLastPara="1" wrap="square" lIns="68575" tIns="34275" rIns="68575" bIns="34275" anchor="t" anchorCtr="0">
            <a:spAutoFit/>
          </a:bodyPr>
          <a:lstStyle/>
          <a:p>
            <a:pPr lvl="0"/>
            <a:r>
              <a:rPr lang="en-GB" dirty="0">
                <a:solidFill>
                  <a:schemeClr val="dk1"/>
                </a:solidFill>
                <a:latin typeface="Times New Roman" panose="02020603050405020304" pitchFamily="18" charset="0"/>
                <a:ea typeface="Calibri"/>
                <a:cs typeface="Times New Roman" panose="02020603050405020304" pitchFamily="18" charset="0"/>
                <a:sym typeface="Calibri"/>
                <a:hlinkClick r:id="rId3"/>
              </a:rPr>
              <a:t>https://github.com/Blackhatch0744/Chronova</a:t>
            </a:r>
            <a:endParaRPr lang="en-GB" dirty="0">
              <a:solidFill>
                <a:schemeClr val="dk1"/>
              </a:solidFill>
              <a:latin typeface="Times New Roman" panose="02020603050405020304" pitchFamily="18" charset="0"/>
              <a:ea typeface="Calibri"/>
              <a:cs typeface="Times New Roman" panose="02020603050405020304" pitchFamily="18" charset="0"/>
              <a:sym typeface="Calibri"/>
            </a:endParaRPr>
          </a:p>
          <a:p>
            <a:pPr lvl="0"/>
            <a:r>
              <a:rPr lang="en-GB" sz="1400" dirty="0">
                <a:solidFill>
                  <a:schemeClr val="dk1"/>
                </a:solidFill>
                <a:latin typeface="Times New Roman" panose="02020603050405020304" pitchFamily="18" charset="0"/>
                <a:ea typeface="Calibri"/>
                <a:cs typeface="Times New Roman" panose="02020603050405020304" pitchFamily="18" charset="0"/>
                <a:sym typeface="Calibri"/>
              </a:rPr>
              <a:t>Demo Video &amp; Disclosure Document : In </a:t>
            </a:r>
            <a:r>
              <a:rPr lang="en-GB" sz="1400" dirty="0" err="1">
                <a:solidFill>
                  <a:schemeClr val="dk1"/>
                </a:solidFill>
                <a:latin typeface="Times New Roman" panose="02020603050405020304" pitchFamily="18" charset="0"/>
                <a:ea typeface="Calibri"/>
                <a:cs typeface="Times New Roman" panose="02020603050405020304" pitchFamily="18" charset="0"/>
                <a:sym typeface="Calibri"/>
              </a:rPr>
              <a:t>github</a:t>
            </a:r>
            <a:r>
              <a:rPr lang="en-GB" sz="1400" dirty="0">
                <a:solidFill>
                  <a:schemeClr val="dk1"/>
                </a:solidFill>
                <a:latin typeface="Times New Roman" panose="02020603050405020304" pitchFamily="18" charset="0"/>
                <a:ea typeface="Calibri"/>
                <a:cs typeface="Times New Roman" panose="02020603050405020304" pitchFamily="18" charset="0"/>
                <a:sym typeface="Calibri"/>
              </a:rPr>
              <a:t> repository</a:t>
            </a:r>
            <a:endParaRPr sz="1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5"/>
          <p:cNvSpPr/>
          <p:nvPr/>
        </p:nvSpPr>
        <p:spPr>
          <a:xfrm>
            <a:off x="0" y="0"/>
            <a:ext cx="9144000" cy="64008"/>
          </a:xfrm>
          <a:prstGeom prst="rect">
            <a:avLst/>
          </a:prstGeom>
          <a:solidFill>
            <a:srgbClr val="00B4D8"/>
          </a:solidFill>
          <a:ln w="12700" cap="flat" cmpd="sng">
            <a:solidFill>
              <a:srgbClr val="00B4D8"/>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237" name="Google Shape;237;p35"/>
          <p:cNvSpPr/>
          <p:nvPr/>
        </p:nvSpPr>
        <p:spPr>
          <a:xfrm>
            <a:off x="457200" y="164592"/>
            <a:ext cx="146304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GB" sz="800" b="1">
                <a:solidFill>
                  <a:schemeClr val="lt1"/>
                </a:solidFill>
                <a:latin typeface="Calibri"/>
                <a:ea typeface="Calibri"/>
                <a:cs typeface="Calibri"/>
                <a:sym typeface="Calibri"/>
              </a:rPr>
              <a:t>Idea</a:t>
            </a:r>
            <a:endParaRPr sz="800">
              <a:solidFill>
                <a:schemeClr val="lt1"/>
              </a:solidFill>
              <a:latin typeface="Calibri"/>
              <a:ea typeface="Calibri"/>
              <a:cs typeface="Calibri"/>
              <a:sym typeface="Calibri"/>
            </a:endParaRPr>
          </a:p>
        </p:txBody>
      </p:sp>
      <p:sp>
        <p:nvSpPr>
          <p:cNvPr id="238" name="Google Shape;238;p35"/>
          <p:cNvSpPr/>
          <p:nvPr/>
        </p:nvSpPr>
        <p:spPr>
          <a:xfrm>
            <a:off x="457200" y="502920"/>
            <a:ext cx="8229600" cy="6400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GB" sz="3200" b="1" dirty="0">
                <a:solidFill>
                  <a:schemeClr val="dk1"/>
                </a:solidFill>
                <a:latin typeface="Calibri"/>
                <a:ea typeface="Calibri"/>
                <a:cs typeface="Calibri"/>
                <a:sym typeface="Calibri"/>
              </a:rPr>
              <a:t>Future Vision</a:t>
            </a:r>
            <a:endParaRPr sz="3200" dirty="0">
              <a:solidFill>
                <a:schemeClr val="dk1"/>
              </a:solidFill>
              <a:latin typeface="Calibri"/>
              <a:ea typeface="Calibri"/>
              <a:cs typeface="Calibri"/>
              <a:sym typeface="Calibri"/>
            </a:endParaRPr>
          </a:p>
        </p:txBody>
      </p:sp>
      <p:sp>
        <p:nvSpPr>
          <p:cNvPr id="239" name="Google Shape;239;p35"/>
          <p:cNvSpPr txBox="1"/>
          <p:nvPr/>
        </p:nvSpPr>
        <p:spPr>
          <a:xfrm>
            <a:off x="555372" y="1262209"/>
            <a:ext cx="4177800" cy="3184944"/>
          </a:xfrm>
          <a:prstGeom prst="rect">
            <a:avLst/>
          </a:prstGeom>
          <a:noFill/>
          <a:ln>
            <a:noFill/>
          </a:ln>
        </p:spPr>
        <p:txBody>
          <a:bodyPr spcFirstLastPara="1" wrap="square" lIns="68575" tIns="34275" rIns="68575" bIns="34275" anchor="t" anchorCtr="0">
            <a:spAutoFit/>
          </a:bodyPr>
          <a:lstStyle/>
          <a:p>
            <a:pPr marL="0" lvl="0" indent="0" algn="l" rtl="0">
              <a:lnSpc>
                <a:spcPct val="115000"/>
              </a:lnSpc>
              <a:spcBef>
                <a:spcPts val="1400"/>
              </a:spcBef>
              <a:spcAft>
                <a:spcPts val="0"/>
              </a:spcAft>
              <a:buClr>
                <a:schemeClr val="dk1"/>
              </a:buClr>
              <a:buSzPts val="1100"/>
              <a:buFont typeface="Arial"/>
              <a:buNone/>
            </a:pPr>
            <a:r>
              <a:rPr lang="en-GB" b="1" dirty="0">
                <a:solidFill>
                  <a:schemeClr val="dk1"/>
                </a:solidFill>
                <a:latin typeface="Times New Roman" panose="02020603050405020304" pitchFamily="18" charset="0"/>
                <a:cs typeface="Times New Roman" panose="02020603050405020304" pitchFamily="18" charset="0"/>
              </a:rPr>
              <a:t>Future Enhancements</a:t>
            </a:r>
            <a:endParaRPr b="1"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120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AI emotion-aware scheduling</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Smartwatch integration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Voice AI assistant</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AI burnout detection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Auto meeting summarization</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Cross-device productivity sync</a:t>
            </a:r>
            <a:endParaRPr dirty="0">
              <a:solidFill>
                <a:schemeClr val="dk1"/>
              </a:solidFill>
              <a:latin typeface="Times New Roman" panose="02020603050405020304" pitchFamily="18" charset="0"/>
              <a:cs typeface="Times New Roman" panose="02020603050405020304" pitchFamily="18" charset="0"/>
            </a:endParaRPr>
          </a:p>
          <a:p>
            <a:pPr marL="457200" lvl="0" indent="-298450" algn="l" rtl="0">
              <a:lnSpc>
                <a:spcPct val="115000"/>
              </a:lnSpc>
              <a:spcBef>
                <a:spcPts val="0"/>
              </a:spcBef>
              <a:spcAft>
                <a:spcPts val="0"/>
              </a:spcAft>
              <a:buClr>
                <a:schemeClr val="dk1"/>
              </a:buClr>
              <a:buSzPts val="1100"/>
              <a:buChar char="●"/>
            </a:pPr>
            <a:r>
              <a:rPr lang="en-GB" dirty="0">
                <a:solidFill>
                  <a:schemeClr val="dk1"/>
                </a:solidFill>
                <a:latin typeface="Times New Roman" panose="02020603050405020304" pitchFamily="18" charset="0"/>
                <a:cs typeface="Times New Roman" panose="02020603050405020304" pitchFamily="18" charset="0"/>
              </a:rPr>
              <a:t>AI-powered habit coaching</a:t>
            </a:r>
            <a:endParaRPr dirty="0">
              <a:solidFill>
                <a:schemeClr val="dk1"/>
              </a:solidFill>
              <a:latin typeface="Times New Roman" panose="02020603050405020304" pitchFamily="18" charset="0"/>
              <a:cs typeface="Times New Roman" panose="02020603050405020304" pitchFamily="18" charset="0"/>
            </a:endParaRPr>
          </a:p>
          <a:p>
            <a:pPr marL="0" marR="0" lvl="0" indent="0" algn="l" rtl="0">
              <a:spcBef>
                <a:spcPts val="1200"/>
              </a:spcBef>
              <a:spcAft>
                <a:spcPts val="0"/>
              </a:spcAft>
              <a:buNone/>
            </a:pPr>
            <a:endParaRPr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spcBef>
                <a:spcPts val="0"/>
              </a:spcBef>
              <a:spcAft>
                <a:spcPts val="0"/>
              </a:spcAft>
              <a:buNone/>
            </a:pPr>
            <a:r>
              <a:rPr lang="en-GB" dirty="0" err="1">
                <a:solidFill>
                  <a:schemeClr val="dk1"/>
                </a:solidFill>
                <a:latin typeface="Times New Roman" panose="02020603050405020304" pitchFamily="18" charset="0"/>
                <a:ea typeface="Calibri"/>
                <a:cs typeface="Times New Roman" panose="02020603050405020304" pitchFamily="18" charset="0"/>
                <a:sym typeface="Calibri"/>
              </a:rPr>
              <a:t>Chronova</a:t>
            </a:r>
            <a:r>
              <a:rPr lang="en-GB" dirty="0">
                <a:solidFill>
                  <a:schemeClr val="dk1"/>
                </a:solidFill>
                <a:latin typeface="Times New Roman" panose="02020603050405020304" pitchFamily="18" charset="0"/>
                <a:ea typeface="Calibri"/>
                <a:cs typeface="Times New Roman" panose="02020603050405020304" pitchFamily="18" charset="0"/>
                <a:sym typeface="Calibri"/>
              </a:rPr>
              <a:t> aims to become an operating system for human productivity.</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887</Words>
  <Application>Microsoft Office PowerPoint</Application>
  <PresentationFormat>On-screen Show (16:9)</PresentationFormat>
  <Paragraphs>167</Paragraphs>
  <Slides>10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Overlock</vt:lpstr>
      <vt:lpstr>Times New Roman</vt:lpstr>
      <vt:lpstr>Calibri</vt:lpstr>
      <vt:lpstr>Times</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Moulik S</cp:lastModifiedBy>
  <cp:revision>3</cp:revision>
  <dcterms:modified xsi:type="dcterms:W3CDTF">2026-05-08T18:01:33Z</dcterms:modified>
</cp:coreProperties>
</file>